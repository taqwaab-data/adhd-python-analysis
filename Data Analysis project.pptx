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58" r:id="rId3"/>
    <p:sldId id="257" r:id="rId4"/>
    <p:sldId id="281" r:id="rId5"/>
    <p:sldId id="260" r:id="rId6"/>
    <p:sldId id="261" r:id="rId7"/>
    <p:sldId id="262" r:id="rId8"/>
    <p:sldId id="263" r:id="rId9"/>
    <p:sldId id="264" r:id="rId10"/>
    <p:sldId id="283" r:id="rId11"/>
    <p:sldId id="265" r:id="rId12"/>
    <p:sldId id="267" r:id="rId13"/>
    <p:sldId id="268" r:id="rId14"/>
    <p:sldId id="287" r:id="rId15"/>
    <p:sldId id="288" r:id="rId16"/>
    <p:sldId id="269" r:id="rId17"/>
    <p:sldId id="284" r:id="rId18"/>
    <p:sldId id="270" r:id="rId19"/>
    <p:sldId id="274" r:id="rId20"/>
    <p:sldId id="301" r:id="rId21"/>
    <p:sldId id="295" r:id="rId22"/>
    <p:sldId id="296" r:id="rId23"/>
    <p:sldId id="272" r:id="rId24"/>
    <p:sldId id="275" r:id="rId25"/>
    <p:sldId id="276" r:id="rId26"/>
    <p:sldId id="289" r:id="rId27"/>
    <p:sldId id="286" r:id="rId28"/>
    <p:sldId id="297" r:id="rId29"/>
    <p:sldId id="305" r:id="rId30"/>
    <p:sldId id="293" r:id="rId31"/>
    <p:sldId id="298" r:id="rId32"/>
    <p:sldId id="303" r:id="rId33"/>
    <p:sldId id="299" r:id="rId34"/>
    <p:sldId id="306" r:id="rId35"/>
    <p:sldId id="304" r:id="rId36"/>
    <p:sldId id="302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601D"/>
    <a:srgbClr val="BC4C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A08142-5181-46D6-A543-66C50743A6E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5A334D-1F8F-4732-A4B1-4E7B26E94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584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5A334D-1F8F-4732-A4B1-4E7B26E9499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6242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5A334D-1F8F-4732-A4B1-4E7B26E9499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9229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5A334D-1F8F-4732-A4B1-4E7B26E9499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815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38C87-8E11-2880-AFAC-2CBBC0301C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CBDEEB-2135-72AD-B0C8-0FE6245631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650A8-3A6E-959B-9FAF-0F739D9AB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FCA31-CA6D-4B3C-83DE-465F5FCFD000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1ACA2-D122-C7C4-B19D-7958EDF43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BF1886-6DE3-A89E-C869-D9E37EFAE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66F2-8AD5-45D3-A2FC-A5AC2E88B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933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121B3-4558-3E2B-B8A9-7F86D8C4D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2FCDF-26F7-A19F-C010-54762D5D91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A3EB9-1DA4-D984-31CC-B99420B60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FCA31-CA6D-4B3C-83DE-465F5FCFD000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B4810-367E-B633-0578-03C6A312E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AF99E-1E19-5C27-F6A4-BDEE268BF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66F2-8AD5-45D3-A2FC-A5AC2E88B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297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04E72-CA80-7375-A167-5D3DE7151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A1252F-A96D-B17D-A993-BEFA445C99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B35E88-217F-9061-6E5B-39E19CF41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FCA31-CA6D-4B3C-83DE-465F5FCFD000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6408B-C214-24E8-25DE-5521301D3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61D5AB-70D1-C880-D17A-60CA0F3A8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66F2-8AD5-45D3-A2FC-A5AC2E88B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990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11B0D-6488-8F98-36B4-12C0520E5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B3E90-9132-7030-CC41-96F3DAFC21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315994-5D2C-4D25-C804-185E78077D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639B1-0623-1AA7-C963-B299C8E22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FCA31-CA6D-4B3C-83DE-465F5FCFD000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69478C-3922-9AF8-CA39-78787BF30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2A69E9-D8DB-9005-D712-9520B1B24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66F2-8AD5-45D3-A2FC-A5AC2E88B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009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3B88F-F2B5-FEBB-65F9-B139F1E2D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B2D0AA-7888-A66F-400C-01DF47183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16BE91-EBF4-2FB0-3CFF-7D8F0D66F2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5A849E-95CC-43CF-BA21-68443B8912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0F576E-B62D-B3A0-30F1-56F08B7307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EEA0D9-9F3E-7056-F0B3-03891654F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FCA31-CA6D-4B3C-83DE-465F5FCFD000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F8C6C3-6CC3-925B-A996-922EEBBD2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869798-186E-9A3E-5586-148A5E219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66F2-8AD5-45D3-A2FC-A5AC2E88B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756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5FDDE-80A7-52CB-5E48-95A280B69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0AC3F8-F399-6009-4A00-9160355BC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FCA31-CA6D-4B3C-83DE-465F5FCFD000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DE287A-1356-665F-DBEE-0F5A5FEC5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4EF8CF-05C9-D4A3-ACD5-569E4C1D5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66F2-8AD5-45D3-A2FC-A5AC2E88B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113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67D558-B013-8DE8-6A3F-D9AD625A5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FCA31-CA6D-4B3C-83DE-465F5FCFD000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8A0F74-10CD-18E6-198B-01EAB25A0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394851-A25C-3B52-B448-B341251FE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66F2-8AD5-45D3-A2FC-A5AC2E88B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346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3DB6D-4A05-37DB-4CBB-8DE8A8636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C5E97-441F-E38B-65B6-E00BDF381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E43BF4-E618-8C39-6370-090A96E767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9D0AB-7542-8AD8-FEDB-584F8140A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FCA31-CA6D-4B3C-83DE-465F5FCFD000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9941CE-DDEA-3EBC-9D20-E9DA433E2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90CCF9-C001-4DF6-DFB9-5B9B811DB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66F2-8AD5-45D3-A2FC-A5AC2E88B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690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648FD-13EB-A812-C2D1-250DC9055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9B0B48-1320-61B9-F477-E4A367AC9B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6A45D2-D300-332E-A980-0B65E74E48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8DACC8-0939-639A-FCE2-B1BA9E0A0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FCA31-CA6D-4B3C-83DE-465F5FCFD000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07C8C1-8645-68F5-0B0F-93766CB9A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D89F1A-1680-BF1D-A165-2C7681D68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66F2-8AD5-45D3-A2FC-A5AC2E88B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344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660D0-D32D-B87B-2F87-EA8C22093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2A4F4D-60A3-EED5-7C3A-5B2C6848DF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6EA604-EED9-10F0-49EE-ACB499155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FCA31-CA6D-4B3C-83DE-465F5FCFD000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02AA07-71D0-D558-7137-721ACF375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D5504-DDB4-37F8-3124-5A2C46DD9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66F2-8AD5-45D3-A2FC-A5AC2E88B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964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B327B6-918A-B2A1-9ACA-6B1FE7E170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6B8702-AD38-A8B3-0B5C-5B9F6D3C57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8F4FF9-1057-8F61-5252-69C07A2CB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FCA31-CA6D-4B3C-83DE-465F5FCFD000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C21972-F966-C593-F9C0-0141966FD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A1975-E4A4-CD1D-F7AF-A3D7B43A3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66F2-8AD5-45D3-A2FC-A5AC2E88B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793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80B59C-DE25-4B79-5408-63FFB0F85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F47696-8533-DCCC-50CC-CA30816B25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257D9E-C334-D82D-97DE-6F05824A91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0FCA31-CA6D-4B3C-83DE-465F5FCFD000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891ED9-2DD7-0F2A-47B1-856CCC6152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AE247-9ED0-E932-4065-166DC2B6F7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6166F2-8AD5-45D3-A2FC-A5AC2E88B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75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hyperlink" Target="https://www.google.com/search?q=Attention+Deficit+Hyperactivity+Disorder&amp;sca_esv=ad5d78fe25a26ce1&amp;sxsrf=AE3TifOv7ET02B2ph0T6imNiQfvSo_GuRA%3A1763141737010&amp;ei=aWgXaYUgxor27w-cpcKwDA&amp;ved=2ahUKEwiNttD0lvKQAxUchf0HHWCqJmkQgK4QegQIARAC&amp;uact=5&amp;oq=%D9%85%D8%A7+%D9%87%D9%88+%D8%A7%D8%B6%D8%B7%D8%B1%D8%A7%D8%A8+adhd+%D8%A8%D8%A7%D9%84%D8%B9%D8%B1%D8%A8%D9%8A+%D9%88%D8%A7%D9%84%D8%A7%D9%86%D8%AC%D9%84%D9%8A%D8%B2%D9%8A&amp;gs_lp=Egxnd3Mtd2l6LXNlcnAiP9mF2Kcg2YfZiCDYp9i22LfYsdin2KggYWRoZCDYqNin2YTYudix2KjZiiDZiNin2YTYp9mG2KzZhNmK2LLZijIIEAAYogQYiQUyCBAAGIAEGKIEMgUQABjvBTIIEAAYgAQYogQyBRAAGO8FSJSYAVDiBVixgQFwE3gBkAEAmAHAAaAB7CuqAQQwLjM3uAEDyAEA-AEBmAI4oAKwLsICChAAGLADGNYEGEfCAggQABiABBjLAcICBhAAGBYYHsICBRAhGKABwgIJECEYoAEYChgqwgIHECEYoAEYCsICBRAhGJ8FmAMAiAYBkAYIkgcFMTkuMzegB4-KAbIHBDAuMze4B7wtwgcJMC4zMi4yMy4xyAexAQ&amp;sclient=gws-wiz-serp&amp;mstk=AUtExfDudhF04nTMRydHAIthr0YAZ5Lgymm0xSURmk52bXwAanaS2IkjtJ8wp1aGiClE8VXGOUfjheoHm1p2UTq4EtXTdQ8zYe0BYstIiRNlqwHp0pLsZqdY7F-iYk7XskzfbMTl7t0M5TqIluqaSXqzhIQQejc6GXlhg2CwisNAubukeOxn_2bdcKtVknmhSWkYjn-B-7cRG6uXtFnL8p4_TuItCtm95SN9Y1PYdILFtrLOjKUIII5ldQl3NtlJZPTpJGTJZBuaPu6EVVIvdbWA094d&amp;csui=3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a7md19/adhd-dataset-4-classes-u2?select=adhd_data.csv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oogle.com/search?q=Attention+Deficit+Hyperactivity+Disorder&amp;sca_esv=ad5d78fe25a26ce1&amp;sxsrf=AE3TifOv7ET02B2ph0T6imNiQfvSo_GuRA%3A1763141737010&amp;ei=aWgXaYUgxor27w-cpcKwDA&amp;ved=2ahUKEwiNttD0lvKQAxUchf0HHWCqJmkQgK4QegQIARAC&amp;uact=5&amp;oq=%D9%85%D8%A7+%D9%87%D9%88+%D8%A7%D8%B6%D8%B7%D8%B1%D8%A7%D8%A8+adhd+%D8%A8%D8%A7%D9%84%D8%B9%D8%B1%D8%A8%D9%8A+%D9%88%D8%A7%D9%84%D8%A7%D9%86%D8%AC%D9%84%D9%8A%D8%B2%D9%8A&amp;gs_lp=Egxnd3Mtd2l6LXNlcnAiP9mF2Kcg2YfZiCDYp9i22LfYsdin2KggYWRoZCDYqNin2YTYudix2KjZiiDZiNin2YTYp9mG2KzZhNmK2LLZijIIEAAYogQYiQUyCBAAGIAEGKIEMgUQABjvBTIIEAAYgAQYogQyBRAAGO8FSJSYAVDiBVixgQFwE3gBkAEAmAHAAaAB7CuqAQQwLjM3uAEDyAEA-AEBmAI4oAKwLsICChAAGLADGNYEGEfCAggQABiABBjLAcICBhAAGBYYHsICBRAhGKABwgIJECEYoAEYChgqwgIHECEYoAEYCsICBRAhGJ8FmAMAiAYBkAYIkgcFMTkuMzegB4-KAbIHBDAuMze4B7wtwgcJMC4zMi4yMy4xyAexAQ&amp;sclient=gws-wiz-serp&amp;mstk=AUtExfDudhF04nTMRydHAIthr0YAZ5Lgymm0xSURmk52bXwAanaS2IkjtJ8wp1aGiClE8VXGOUfjheoHm1p2UTq4EtXTdQ8zYe0BYstIiRNlqwHp0pLsZqdY7F-iYk7XskzfbMTl7t0M5TqIluqaSXqzhIQQejc6GXlhg2CwisNAubukeOxn_2bdcKtVknmhSWkYjn-B-7cRG6uXtFnL8p4_TuItCtm95SN9Y1PYdILFtrLOjKUIII5ldQl3NtlJZPTpJGTJZBuaPu6EVVIvdbWA094d&amp;csui=3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89EED9-F54D-4F20-A2C6-949DE4176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A85619E-59AB-4E59-8DD1-77D17FCB3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26150" cy="6858000"/>
          </a:xfrm>
          <a:custGeom>
            <a:avLst/>
            <a:gdLst>
              <a:gd name="connsiteX0" fmla="*/ 0 w 7579856"/>
              <a:gd name="connsiteY0" fmla="*/ 0 h 6858000"/>
              <a:gd name="connsiteX1" fmla="*/ 7579856 w 7579856"/>
              <a:gd name="connsiteY1" fmla="*/ 0 h 6858000"/>
              <a:gd name="connsiteX2" fmla="*/ 7470504 w 7579856"/>
              <a:gd name="connsiteY2" fmla="*/ 260102 h 6858000"/>
              <a:gd name="connsiteX3" fmla="*/ 7382971 w 7579856"/>
              <a:gd name="connsiteY3" fmla="*/ 293939 h 6858000"/>
              <a:gd name="connsiteX4" fmla="*/ 7424315 w 7579856"/>
              <a:gd name="connsiteY4" fmla="*/ 333533 h 6858000"/>
              <a:gd name="connsiteX5" fmla="*/ 7371566 w 7579856"/>
              <a:gd name="connsiteY5" fmla="*/ 479678 h 6858000"/>
              <a:gd name="connsiteX6" fmla="*/ 7333409 w 7579856"/>
              <a:gd name="connsiteY6" fmla="*/ 639474 h 6858000"/>
              <a:gd name="connsiteX7" fmla="*/ 7277592 w 7579856"/>
              <a:gd name="connsiteY7" fmla="*/ 752461 h 6858000"/>
              <a:gd name="connsiteX8" fmla="*/ 7168002 w 7579856"/>
              <a:gd name="connsiteY8" fmla="*/ 908523 h 6858000"/>
              <a:gd name="connsiteX9" fmla="*/ 6878697 w 7579856"/>
              <a:gd name="connsiteY9" fmla="*/ 1346641 h 6858000"/>
              <a:gd name="connsiteX10" fmla="*/ 6794992 w 7579856"/>
              <a:gd name="connsiteY10" fmla="*/ 1562952 h 6858000"/>
              <a:gd name="connsiteX11" fmla="*/ 6734639 w 7579856"/>
              <a:gd name="connsiteY11" fmla="*/ 1920622 h 6858000"/>
              <a:gd name="connsiteX12" fmla="*/ 6730519 w 7579856"/>
              <a:gd name="connsiteY12" fmla="*/ 2097872 h 6858000"/>
              <a:gd name="connsiteX13" fmla="*/ 6705894 w 7579856"/>
              <a:gd name="connsiteY13" fmla="*/ 2420416 h 6858000"/>
              <a:gd name="connsiteX14" fmla="*/ 6683705 w 7579856"/>
              <a:gd name="connsiteY14" fmla="*/ 2654677 h 6858000"/>
              <a:gd name="connsiteX15" fmla="*/ 6638423 w 7579856"/>
              <a:gd name="connsiteY15" fmla="*/ 2846969 h 6858000"/>
              <a:gd name="connsiteX16" fmla="*/ 6553674 w 7579856"/>
              <a:gd name="connsiteY16" fmla="*/ 3101886 h 6858000"/>
              <a:gd name="connsiteX17" fmla="*/ 6511102 w 7579856"/>
              <a:gd name="connsiteY17" fmla="*/ 3227971 h 6858000"/>
              <a:gd name="connsiteX18" fmla="*/ 6492768 w 7579856"/>
              <a:gd name="connsiteY18" fmla="*/ 3410007 h 6858000"/>
              <a:gd name="connsiteX19" fmla="*/ 6483278 w 7579856"/>
              <a:gd name="connsiteY19" fmla="*/ 3413112 h 6858000"/>
              <a:gd name="connsiteX20" fmla="*/ 6457853 w 7579856"/>
              <a:gd name="connsiteY20" fmla="*/ 3475597 h 6858000"/>
              <a:gd name="connsiteX21" fmla="*/ 6410459 w 7579856"/>
              <a:gd name="connsiteY21" fmla="*/ 3726672 h 6858000"/>
              <a:gd name="connsiteX22" fmla="*/ 6359621 w 7579856"/>
              <a:gd name="connsiteY22" fmla="*/ 3847892 h 6858000"/>
              <a:gd name="connsiteX23" fmla="*/ 6334856 w 7579856"/>
              <a:gd name="connsiteY23" fmla="*/ 3885724 h 6858000"/>
              <a:gd name="connsiteX24" fmla="*/ 6293786 w 7579856"/>
              <a:gd name="connsiteY24" fmla="*/ 3949434 h 6858000"/>
              <a:gd name="connsiteX25" fmla="*/ 6245606 w 7579856"/>
              <a:gd name="connsiteY25" fmla="*/ 3999200 h 6858000"/>
              <a:gd name="connsiteX26" fmla="*/ 6141951 w 7579856"/>
              <a:gd name="connsiteY26" fmla="*/ 4086732 h 6858000"/>
              <a:gd name="connsiteX27" fmla="*/ 6078664 w 7579856"/>
              <a:gd name="connsiteY27" fmla="*/ 4186250 h 6858000"/>
              <a:gd name="connsiteX28" fmla="*/ 6022393 w 7579856"/>
              <a:gd name="connsiteY28" fmla="*/ 4256032 h 6858000"/>
              <a:gd name="connsiteX29" fmla="*/ 5948407 w 7579856"/>
              <a:gd name="connsiteY29" fmla="*/ 4384326 h 6858000"/>
              <a:gd name="connsiteX30" fmla="*/ 5876649 w 7579856"/>
              <a:gd name="connsiteY30" fmla="*/ 4557747 h 6858000"/>
              <a:gd name="connsiteX31" fmla="*/ 5843760 w 7579856"/>
              <a:gd name="connsiteY31" fmla="*/ 4628455 h 6858000"/>
              <a:gd name="connsiteX32" fmla="*/ 5770009 w 7579856"/>
              <a:gd name="connsiteY32" fmla="*/ 4708689 h 6858000"/>
              <a:gd name="connsiteX33" fmla="*/ 5725056 w 7579856"/>
              <a:gd name="connsiteY33" fmla="*/ 4751553 h 6858000"/>
              <a:gd name="connsiteX34" fmla="*/ 5673106 w 7579856"/>
              <a:gd name="connsiteY34" fmla="*/ 4803022 h 6858000"/>
              <a:gd name="connsiteX35" fmla="*/ 5646635 w 7579856"/>
              <a:gd name="connsiteY35" fmla="*/ 4918486 h 6858000"/>
              <a:gd name="connsiteX36" fmla="*/ 5632308 w 7579856"/>
              <a:gd name="connsiteY36" fmla="*/ 5003261 h 6858000"/>
              <a:gd name="connsiteX37" fmla="*/ 5600041 w 7579856"/>
              <a:gd name="connsiteY37" fmla="*/ 5126502 h 6858000"/>
              <a:gd name="connsiteX38" fmla="*/ 5593786 w 7579856"/>
              <a:gd name="connsiteY38" fmla="*/ 5183759 h 6858000"/>
              <a:gd name="connsiteX39" fmla="*/ 5566847 w 7579856"/>
              <a:gd name="connsiteY39" fmla="*/ 5283130 h 6858000"/>
              <a:gd name="connsiteX40" fmla="*/ 5545211 w 7579856"/>
              <a:gd name="connsiteY40" fmla="*/ 5391620 h 6858000"/>
              <a:gd name="connsiteX41" fmla="*/ 5504490 w 7579856"/>
              <a:gd name="connsiteY41" fmla="*/ 5443028 h 6858000"/>
              <a:gd name="connsiteX42" fmla="*/ 5495036 w 7579856"/>
              <a:gd name="connsiteY42" fmla="*/ 5535042 h 6858000"/>
              <a:gd name="connsiteX43" fmla="*/ 5481653 w 7579856"/>
              <a:gd name="connsiteY43" fmla="*/ 5579759 h 6858000"/>
              <a:gd name="connsiteX44" fmla="*/ 5453795 w 7579856"/>
              <a:gd name="connsiteY44" fmla="*/ 5665992 h 6858000"/>
              <a:gd name="connsiteX45" fmla="*/ 5417837 w 7579856"/>
              <a:gd name="connsiteY45" fmla="*/ 5741729 h 6858000"/>
              <a:gd name="connsiteX46" fmla="*/ 5398588 w 7579856"/>
              <a:gd name="connsiteY46" fmla="*/ 5893367 h 6858000"/>
              <a:gd name="connsiteX47" fmla="*/ 5412427 w 7579856"/>
              <a:gd name="connsiteY47" fmla="*/ 5943796 h 6858000"/>
              <a:gd name="connsiteX48" fmla="*/ 5400101 w 7579856"/>
              <a:gd name="connsiteY48" fmla="*/ 6000335 h 6858000"/>
              <a:gd name="connsiteX49" fmla="*/ 5408124 w 7579856"/>
              <a:gd name="connsiteY49" fmla="*/ 6055832 h 6858000"/>
              <a:gd name="connsiteX50" fmla="*/ 5382772 w 7579856"/>
              <a:gd name="connsiteY50" fmla="*/ 6106527 h 6858000"/>
              <a:gd name="connsiteX51" fmla="*/ 5354118 w 7579856"/>
              <a:gd name="connsiteY51" fmla="*/ 6177715 h 6858000"/>
              <a:gd name="connsiteX52" fmla="*/ 5352724 w 7579856"/>
              <a:gd name="connsiteY52" fmla="*/ 6231835 h 6858000"/>
              <a:gd name="connsiteX53" fmla="*/ 5314801 w 7579856"/>
              <a:gd name="connsiteY53" fmla="*/ 6378377 h 6858000"/>
              <a:gd name="connsiteX54" fmla="*/ 5346289 w 7579856"/>
              <a:gd name="connsiteY54" fmla="*/ 6531204 h 6858000"/>
              <a:gd name="connsiteX55" fmla="*/ 5296493 w 7579856"/>
              <a:gd name="connsiteY55" fmla="*/ 6828948 h 6858000"/>
              <a:gd name="connsiteX56" fmla="*/ 5299149 w 7579856"/>
              <a:gd name="connsiteY56" fmla="*/ 6850700 h 6858000"/>
              <a:gd name="connsiteX57" fmla="*/ 5293995 w 7579856"/>
              <a:gd name="connsiteY57" fmla="*/ 6858000 h 6858000"/>
              <a:gd name="connsiteX58" fmla="*/ 0 w 7579856"/>
              <a:gd name="connsiteY58" fmla="*/ 6858000 h 6858000"/>
              <a:gd name="connsiteX0" fmla="*/ 0 w 7579856"/>
              <a:gd name="connsiteY0" fmla="*/ 0 h 6858000"/>
              <a:gd name="connsiteX1" fmla="*/ 7579856 w 7579856"/>
              <a:gd name="connsiteY1" fmla="*/ 0 h 6858000"/>
              <a:gd name="connsiteX2" fmla="*/ 7470504 w 7579856"/>
              <a:gd name="connsiteY2" fmla="*/ 260102 h 6858000"/>
              <a:gd name="connsiteX3" fmla="*/ 7382971 w 7579856"/>
              <a:gd name="connsiteY3" fmla="*/ 293939 h 6858000"/>
              <a:gd name="connsiteX4" fmla="*/ 7371566 w 7579856"/>
              <a:gd name="connsiteY4" fmla="*/ 479678 h 6858000"/>
              <a:gd name="connsiteX5" fmla="*/ 7333409 w 7579856"/>
              <a:gd name="connsiteY5" fmla="*/ 639474 h 6858000"/>
              <a:gd name="connsiteX6" fmla="*/ 7277592 w 7579856"/>
              <a:gd name="connsiteY6" fmla="*/ 752461 h 6858000"/>
              <a:gd name="connsiteX7" fmla="*/ 7168002 w 7579856"/>
              <a:gd name="connsiteY7" fmla="*/ 908523 h 6858000"/>
              <a:gd name="connsiteX8" fmla="*/ 6878697 w 7579856"/>
              <a:gd name="connsiteY8" fmla="*/ 1346641 h 6858000"/>
              <a:gd name="connsiteX9" fmla="*/ 6794992 w 7579856"/>
              <a:gd name="connsiteY9" fmla="*/ 1562952 h 6858000"/>
              <a:gd name="connsiteX10" fmla="*/ 6734639 w 7579856"/>
              <a:gd name="connsiteY10" fmla="*/ 1920622 h 6858000"/>
              <a:gd name="connsiteX11" fmla="*/ 6730519 w 7579856"/>
              <a:gd name="connsiteY11" fmla="*/ 2097872 h 6858000"/>
              <a:gd name="connsiteX12" fmla="*/ 6705894 w 7579856"/>
              <a:gd name="connsiteY12" fmla="*/ 2420416 h 6858000"/>
              <a:gd name="connsiteX13" fmla="*/ 6683705 w 7579856"/>
              <a:gd name="connsiteY13" fmla="*/ 2654677 h 6858000"/>
              <a:gd name="connsiteX14" fmla="*/ 6638423 w 7579856"/>
              <a:gd name="connsiteY14" fmla="*/ 2846969 h 6858000"/>
              <a:gd name="connsiteX15" fmla="*/ 6553674 w 7579856"/>
              <a:gd name="connsiteY15" fmla="*/ 3101886 h 6858000"/>
              <a:gd name="connsiteX16" fmla="*/ 6511102 w 7579856"/>
              <a:gd name="connsiteY16" fmla="*/ 3227971 h 6858000"/>
              <a:gd name="connsiteX17" fmla="*/ 6492768 w 7579856"/>
              <a:gd name="connsiteY17" fmla="*/ 3410007 h 6858000"/>
              <a:gd name="connsiteX18" fmla="*/ 6483278 w 7579856"/>
              <a:gd name="connsiteY18" fmla="*/ 3413112 h 6858000"/>
              <a:gd name="connsiteX19" fmla="*/ 6457853 w 7579856"/>
              <a:gd name="connsiteY19" fmla="*/ 3475597 h 6858000"/>
              <a:gd name="connsiteX20" fmla="*/ 6410459 w 7579856"/>
              <a:gd name="connsiteY20" fmla="*/ 3726672 h 6858000"/>
              <a:gd name="connsiteX21" fmla="*/ 6359621 w 7579856"/>
              <a:gd name="connsiteY21" fmla="*/ 3847892 h 6858000"/>
              <a:gd name="connsiteX22" fmla="*/ 6334856 w 7579856"/>
              <a:gd name="connsiteY22" fmla="*/ 3885724 h 6858000"/>
              <a:gd name="connsiteX23" fmla="*/ 6293786 w 7579856"/>
              <a:gd name="connsiteY23" fmla="*/ 3949434 h 6858000"/>
              <a:gd name="connsiteX24" fmla="*/ 6245606 w 7579856"/>
              <a:gd name="connsiteY24" fmla="*/ 3999200 h 6858000"/>
              <a:gd name="connsiteX25" fmla="*/ 6141951 w 7579856"/>
              <a:gd name="connsiteY25" fmla="*/ 4086732 h 6858000"/>
              <a:gd name="connsiteX26" fmla="*/ 6078664 w 7579856"/>
              <a:gd name="connsiteY26" fmla="*/ 4186250 h 6858000"/>
              <a:gd name="connsiteX27" fmla="*/ 6022393 w 7579856"/>
              <a:gd name="connsiteY27" fmla="*/ 4256032 h 6858000"/>
              <a:gd name="connsiteX28" fmla="*/ 5948407 w 7579856"/>
              <a:gd name="connsiteY28" fmla="*/ 4384326 h 6858000"/>
              <a:gd name="connsiteX29" fmla="*/ 5876649 w 7579856"/>
              <a:gd name="connsiteY29" fmla="*/ 4557747 h 6858000"/>
              <a:gd name="connsiteX30" fmla="*/ 5843760 w 7579856"/>
              <a:gd name="connsiteY30" fmla="*/ 4628455 h 6858000"/>
              <a:gd name="connsiteX31" fmla="*/ 5770009 w 7579856"/>
              <a:gd name="connsiteY31" fmla="*/ 4708689 h 6858000"/>
              <a:gd name="connsiteX32" fmla="*/ 5725056 w 7579856"/>
              <a:gd name="connsiteY32" fmla="*/ 4751553 h 6858000"/>
              <a:gd name="connsiteX33" fmla="*/ 5673106 w 7579856"/>
              <a:gd name="connsiteY33" fmla="*/ 4803022 h 6858000"/>
              <a:gd name="connsiteX34" fmla="*/ 5646635 w 7579856"/>
              <a:gd name="connsiteY34" fmla="*/ 4918486 h 6858000"/>
              <a:gd name="connsiteX35" fmla="*/ 5632308 w 7579856"/>
              <a:gd name="connsiteY35" fmla="*/ 5003261 h 6858000"/>
              <a:gd name="connsiteX36" fmla="*/ 5600041 w 7579856"/>
              <a:gd name="connsiteY36" fmla="*/ 5126502 h 6858000"/>
              <a:gd name="connsiteX37" fmla="*/ 5593786 w 7579856"/>
              <a:gd name="connsiteY37" fmla="*/ 5183759 h 6858000"/>
              <a:gd name="connsiteX38" fmla="*/ 5566847 w 7579856"/>
              <a:gd name="connsiteY38" fmla="*/ 5283130 h 6858000"/>
              <a:gd name="connsiteX39" fmla="*/ 5545211 w 7579856"/>
              <a:gd name="connsiteY39" fmla="*/ 5391620 h 6858000"/>
              <a:gd name="connsiteX40" fmla="*/ 5504490 w 7579856"/>
              <a:gd name="connsiteY40" fmla="*/ 5443028 h 6858000"/>
              <a:gd name="connsiteX41" fmla="*/ 5495036 w 7579856"/>
              <a:gd name="connsiteY41" fmla="*/ 5535042 h 6858000"/>
              <a:gd name="connsiteX42" fmla="*/ 5481653 w 7579856"/>
              <a:gd name="connsiteY42" fmla="*/ 5579759 h 6858000"/>
              <a:gd name="connsiteX43" fmla="*/ 5453795 w 7579856"/>
              <a:gd name="connsiteY43" fmla="*/ 5665992 h 6858000"/>
              <a:gd name="connsiteX44" fmla="*/ 5417837 w 7579856"/>
              <a:gd name="connsiteY44" fmla="*/ 5741729 h 6858000"/>
              <a:gd name="connsiteX45" fmla="*/ 5398588 w 7579856"/>
              <a:gd name="connsiteY45" fmla="*/ 5893367 h 6858000"/>
              <a:gd name="connsiteX46" fmla="*/ 5412427 w 7579856"/>
              <a:gd name="connsiteY46" fmla="*/ 5943796 h 6858000"/>
              <a:gd name="connsiteX47" fmla="*/ 5400101 w 7579856"/>
              <a:gd name="connsiteY47" fmla="*/ 6000335 h 6858000"/>
              <a:gd name="connsiteX48" fmla="*/ 5408124 w 7579856"/>
              <a:gd name="connsiteY48" fmla="*/ 6055832 h 6858000"/>
              <a:gd name="connsiteX49" fmla="*/ 5382772 w 7579856"/>
              <a:gd name="connsiteY49" fmla="*/ 6106527 h 6858000"/>
              <a:gd name="connsiteX50" fmla="*/ 5354118 w 7579856"/>
              <a:gd name="connsiteY50" fmla="*/ 6177715 h 6858000"/>
              <a:gd name="connsiteX51" fmla="*/ 5352724 w 7579856"/>
              <a:gd name="connsiteY51" fmla="*/ 6231835 h 6858000"/>
              <a:gd name="connsiteX52" fmla="*/ 5314801 w 7579856"/>
              <a:gd name="connsiteY52" fmla="*/ 6378377 h 6858000"/>
              <a:gd name="connsiteX53" fmla="*/ 5346289 w 7579856"/>
              <a:gd name="connsiteY53" fmla="*/ 6531204 h 6858000"/>
              <a:gd name="connsiteX54" fmla="*/ 5296493 w 7579856"/>
              <a:gd name="connsiteY54" fmla="*/ 6828948 h 6858000"/>
              <a:gd name="connsiteX55" fmla="*/ 5299149 w 7579856"/>
              <a:gd name="connsiteY55" fmla="*/ 6850700 h 6858000"/>
              <a:gd name="connsiteX56" fmla="*/ 5293995 w 7579856"/>
              <a:gd name="connsiteY56" fmla="*/ 6858000 h 6858000"/>
              <a:gd name="connsiteX57" fmla="*/ 0 w 7579856"/>
              <a:gd name="connsiteY57" fmla="*/ 6858000 h 6858000"/>
              <a:gd name="connsiteX58" fmla="*/ 0 w 7579856"/>
              <a:gd name="connsiteY58" fmla="*/ 0 h 6858000"/>
              <a:gd name="connsiteX0" fmla="*/ 0 w 7579856"/>
              <a:gd name="connsiteY0" fmla="*/ 0 h 6858000"/>
              <a:gd name="connsiteX1" fmla="*/ 7579856 w 7579856"/>
              <a:gd name="connsiteY1" fmla="*/ 0 h 6858000"/>
              <a:gd name="connsiteX2" fmla="*/ 7470504 w 7579856"/>
              <a:gd name="connsiteY2" fmla="*/ 260102 h 6858000"/>
              <a:gd name="connsiteX3" fmla="*/ 7393573 w 7579856"/>
              <a:gd name="connsiteY3" fmla="*/ 399956 h 6858000"/>
              <a:gd name="connsiteX4" fmla="*/ 7371566 w 7579856"/>
              <a:gd name="connsiteY4" fmla="*/ 479678 h 6858000"/>
              <a:gd name="connsiteX5" fmla="*/ 7333409 w 7579856"/>
              <a:gd name="connsiteY5" fmla="*/ 639474 h 6858000"/>
              <a:gd name="connsiteX6" fmla="*/ 7277592 w 7579856"/>
              <a:gd name="connsiteY6" fmla="*/ 752461 h 6858000"/>
              <a:gd name="connsiteX7" fmla="*/ 7168002 w 7579856"/>
              <a:gd name="connsiteY7" fmla="*/ 908523 h 6858000"/>
              <a:gd name="connsiteX8" fmla="*/ 6878697 w 7579856"/>
              <a:gd name="connsiteY8" fmla="*/ 1346641 h 6858000"/>
              <a:gd name="connsiteX9" fmla="*/ 6794992 w 7579856"/>
              <a:gd name="connsiteY9" fmla="*/ 1562952 h 6858000"/>
              <a:gd name="connsiteX10" fmla="*/ 6734639 w 7579856"/>
              <a:gd name="connsiteY10" fmla="*/ 1920622 h 6858000"/>
              <a:gd name="connsiteX11" fmla="*/ 6730519 w 7579856"/>
              <a:gd name="connsiteY11" fmla="*/ 2097872 h 6858000"/>
              <a:gd name="connsiteX12" fmla="*/ 6705894 w 7579856"/>
              <a:gd name="connsiteY12" fmla="*/ 2420416 h 6858000"/>
              <a:gd name="connsiteX13" fmla="*/ 6683705 w 7579856"/>
              <a:gd name="connsiteY13" fmla="*/ 2654677 h 6858000"/>
              <a:gd name="connsiteX14" fmla="*/ 6638423 w 7579856"/>
              <a:gd name="connsiteY14" fmla="*/ 2846969 h 6858000"/>
              <a:gd name="connsiteX15" fmla="*/ 6553674 w 7579856"/>
              <a:gd name="connsiteY15" fmla="*/ 3101886 h 6858000"/>
              <a:gd name="connsiteX16" fmla="*/ 6511102 w 7579856"/>
              <a:gd name="connsiteY16" fmla="*/ 3227971 h 6858000"/>
              <a:gd name="connsiteX17" fmla="*/ 6492768 w 7579856"/>
              <a:gd name="connsiteY17" fmla="*/ 3410007 h 6858000"/>
              <a:gd name="connsiteX18" fmla="*/ 6483278 w 7579856"/>
              <a:gd name="connsiteY18" fmla="*/ 3413112 h 6858000"/>
              <a:gd name="connsiteX19" fmla="*/ 6457853 w 7579856"/>
              <a:gd name="connsiteY19" fmla="*/ 3475597 h 6858000"/>
              <a:gd name="connsiteX20" fmla="*/ 6410459 w 7579856"/>
              <a:gd name="connsiteY20" fmla="*/ 3726672 h 6858000"/>
              <a:gd name="connsiteX21" fmla="*/ 6359621 w 7579856"/>
              <a:gd name="connsiteY21" fmla="*/ 3847892 h 6858000"/>
              <a:gd name="connsiteX22" fmla="*/ 6334856 w 7579856"/>
              <a:gd name="connsiteY22" fmla="*/ 3885724 h 6858000"/>
              <a:gd name="connsiteX23" fmla="*/ 6293786 w 7579856"/>
              <a:gd name="connsiteY23" fmla="*/ 3949434 h 6858000"/>
              <a:gd name="connsiteX24" fmla="*/ 6245606 w 7579856"/>
              <a:gd name="connsiteY24" fmla="*/ 3999200 h 6858000"/>
              <a:gd name="connsiteX25" fmla="*/ 6141951 w 7579856"/>
              <a:gd name="connsiteY25" fmla="*/ 4086732 h 6858000"/>
              <a:gd name="connsiteX26" fmla="*/ 6078664 w 7579856"/>
              <a:gd name="connsiteY26" fmla="*/ 4186250 h 6858000"/>
              <a:gd name="connsiteX27" fmla="*/ 6022393 w 7579856"/>
              <a:gd name="connsiteY27" fmla="*/ 4256032 h 6858000"/>
              <a:gd name="connsiteX28" fmla="*/ 5948407 w 7579856"/>
              <a:gd name="connsiteY28" fmla="*/ 4384326 h 6858000"/>
              <a:gd name="connsiteX29" fmla="*/ 5876649 w 7579856"/>
              <a:gd name="connsiteY29" fmla="*/ 4557747 h 6858000"/>
              <a:gd name="connsiteX30" fmla="*/ 5843760 w 7579856"/>
              <a:gd name="connsiteY30" fmla="*/ 4628455 h 6858000"/>
              <a:gd name="connsiteX31" fmla="*/ 5770009 w 7579856"/>
              <a:gd name="connsiteY31" fmla="*/ 4708689 h 6858000"/>
              <a:gd name="connsiteX32" fmla="*/ 5725056 w 7579856"/>
              <a:gd name="connsiteY32" fmla="*/ 4751553 h 6858000"/>
              <a:gd name="connsiteX33" fmla="*/ 5673106 w 7579856"/>
              <a:gd name="connsiteY33" fmla="*/ 4803022 h 6858000"/>
              <a:gd name="connsiteX34" fmla="*/ 5646635 w 7579856"/>
              <a:gd name="connsiteY34" fmla="*/ 4918486 h 6858000"/>
              <a:gd name="connsiteX35" fmla="*/ 5632308 w 7579856"/>
              <a:gd name="connsiteY35" fmla="*/ 5003261 h 6858000"/>
              <a:gd name="connsiteX36" fmla="*/ 5600041 w 7579856"/>
              <a:gd name="connsiteY36" fmla="*/ 5126502 h 6858000"/>
              <a:gd name="connsiteX37" fmla="*/ 5593786 w 7579856"/>
              <a:gd name="connsiteY37" fmla="*/ 5183759 h 6858000"/>
              <a:gd name="connsiteX38" fmla="*/ 5566847 w 7579856"/>
              <a:gd name="connsiteY38" fmla="*/ 5283130 h 6858000"/>
              <a:gd name="connsiteX39" fmla="*/ 5545211 w 7579856"/>
              <a:gd name="connsiteY39" fmla="*/ 5391620 h 6858000"/>
              <a:gd name="connsiteX40" fmla="*/ 5504490 w 7579856"/>
              <a:gd name="connsiteY40" fmla="*/ 5443028 h 6858000"/>
              <a:gd name="connsiteX41" fmla="*/ 5495036 w 7579856"/>
              <a:gd name="connsiteY41" fmla="*/ 5535042 h 6858000"/>
              <a:gd name="connsiteX42" fmla="*/ 5481653 w 7579856"/>
              <a:gd name="connsiteY42" fmla="*/ 5579759 h 6858000"/>
              <a:gd name="connsiteX43" fmla="*/ 5453795 w 7579856"/>
              <a:gd name="connsiteY43" fmla="*/ 5665992 h 6858000"/>
              <a:gd name="connsiteX44" fmla="*/ 5417837 w 7579856"/>
              <a:gd name="connsiteY44" fmla="*/ 5741729 h 6858000"/>
              <a:gd name="connsiteX45" fmla="*/ 5398588 w 7579856"/>
              <a:gd name="connsiteY45" fmla="*/ 5893367 h 6858000"/>
              <a:gd name="connsiteX46" fmla="*/ 5412427 w 7579856"/>
              <a:gd name="connsiteY46" fmla="*/ 5943796 h 6858000"/>
              <a:gd name="connsiteX47" fmla="*/ 5400101 w 7579856"/>
              <a:gd name="connsiteY47" fmla="*/ 6000335 h 6858000"/>
              <a:gd name="connsiteX48" fmla="*/ 5408124 w 7579856"/>
              <a:gd name="connsiteY48" fmla="*/ 6055832 h 6858000"/>
              <a:gd name="connsiteX49" fmla="*/ 5382772 w 7579856"/>
              <a:gd name="connsiteY49" fmla="*/ 6106527 h 6858000"/>
              <a:gd name="connsiteX50" fmla="*/ 5354118 w 7579856"/>
              <a:gd name="connsiteY50" fmla="*/ 6177715 h 6858000"/>
              <a:gd name="connsiteX51" fmla="*/ 5352724 w 7579856"/>
              <a:gd name="connsiteY51" fmla="*/ 6231835 h 6858000"/>
              <a:gd name="connsiteX52" fmla="*/ 5314801 w 7579856"/>
              <a:gd name="connsiteY52" fmla="*/ 6378377 h 6858000"/>
              <a:gd name="connsiteX53" fmla="*/ 5346289 w 7579856"/>
              <a:gd name="connsiteY53" fmla="*/ 6531204 h 6858000"/>
              <a:gd name="connsiteX54" fmla="*/ 5296493 w 7579856"/>
              <a:gd name="connsiteY54" fmla="*/ 6828948 h 6858000"/>
              <a:gd name="connsiteX55" fmla="*/ 5299149 w 7579856"/>
              <a:gd name="connsiteY55" fmla="*/ 6850700 h 6858000"/>
              <a:gd name="connsiteX56" fmla="*/ 5293995 w 7579856"/>
              <a:gd name="connsiteY56" fmla="*/ 6858000 h 6858000"/>
              <a:gd name="connsiteX57" fmla="*/ 0 w 7579856"/>
              <a:gd name="connsiteY57" fmla="*/ 6858000 h 6858000"/>
              <a:gd name="connsiteX58" fmla="*/ 0 w 7579856"/>
              <a:gd name="connsiteY5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7579856" h="6858000">
                <a:moveTo>
                  <a:pt x="0" y="0"/>
                </a:moveTo>
                <a:lnTo>
                  <a:pt x="7579856" y="0"/>
                </a:lnTo>
                <a:lnTo>
                  <a:pt x="7470504" y="260102"/>
                </a:lnTo>
                <a:cubicBezTo>
                  <a:pt x="7461630" y="268839"/>
                  <a:pt x="7394342" y="394464"/>
                  <a:pt x="7393573" y="399956"/>
                </a:cubicBezTo>
                <a:cubicBezTo>
                  <a:pt x="7377083" y="436552"/>
                  <a:pt x="7379826" y="422089"/>
                  <a:pt x="7371566" y="479678"/>
                </a:cubicBezTo>
                <a:cubicBezTo>
                  <a:pt x="7375726" y="514866"/>
                  <a:pt x="7314090" y="538026"/>
                  <a:pt x="7333409" y="639474"/>
                </a:cubicBezTo>
                <a:cubicBezTo>
                  <a:pt x="7304030" y="645989"/>
                  <a:pt x="7277305" y="734514"/>
                  <a:pt x="7277592" y="752461"/>
                </a:cubicBezTo>
                <a:cubicBezTo>
                  <a:pt x="7263957" y="826326"/>
                  <a:pt x="7190549" y="831933"/>
                  <a:pt x="7168002" y="908523"/>
                </a:cubicBezTo>
                <a:cubicBezTo>
                  <a:pt x="7159192" y="1017987"/>
                  <a:pt x="6881131" y="1275734"/>
                  <a:pt x="6878697" y="1346641"/>
                </a:cubicBezTo>
                <a:cubicBezTo>
                  <a:pt x="6857377" y="1450976"/>
                  <a:pt x="6800249" y="1488570"/>
                  <a:pt x="6794992" y="1562952"/>
                </a:cubicBezTo>
                <a:cubicBezTo>
                  <a:pt x="6777186" y="1744477"/>
                  <a:pt x="6752997" y="1733417"/>
                  <a:pt x="6734639" y="1920622"/>
                </a:cubicBezTo>
                <a:cubicBezTo>
                  <a:pt x="6723638" y="2037344"/>
                  <a:pt x="6741520" y="1981150"/>
                  <a:pt x="6730519" y="2097872"/>
                </a:cubicBezTo>
                <a:lnTo>
                  <a:pt x="6705894" y="2420416"/>
                </a:lnTo>
                <a:cubicBezTo>
                  <a:pt x="6699729" y="2429580"/>
                  <a:pt x="6687282" y="2640728"/>
                  <a:pt x="6683705" y="2654677"/>
                </a:cubicBezTo>
                <a:cubicBezTo>
                  <a:pt x="6659846" y="2709901"/>
                  <a:pt x="6664499" y="2789595"/>
                  <a:pt x="6638423" y="2846969"/>
                </a:cubicBezTo>
                <a:cubicBezTo>
                  <a:pt x="6619172" y="2849418"/>
                  <a:pt x="6569554" y="3118422"/>
                  <a:pt x="6553674" y="3101886"/>
                </a:cubicBezTo>
                <a:cubicBezTo>
                  <a:pt x="6557982" y="3144969"/>
                  <a:pt x="6529319" y="3203242"/>
                  <a:pt x="6511102" y="3227971"/>
                </a:cubicBezTo>
                <a:cubicBezTo>
                  <a:pt x="6488937" y="3278163"/>
                  <a:pt x="6507177" y="3372316"/>
                  <a:pt x="6492768" y="3410007"/>
                </a:cubicBezTo>
                <a:cubicBezTo>
                  <a:pt x="6489589" y="3410402"/>
                  <a:pt x="6486392" y="3411447"/>
                  <a:pt x="6483278" y="3413112"/>
                </a:cubicBezTo>
                <a:cubicBezTo>
                  <a:pt x="6465197" y="3422775"/>
                  <a:pt x="6453811" y="3450753"/>
                  <a:pt x="6457853" y="3475597"/>
                </a:cubicBezTo>
                <a:cubicBezTo>
                  <a:pt x="6460183" y="3580433"/>
                  <a:pt x="6430321" y="3652787"/>
                  <a:pt x="6410459" y="3726672"/>
                </a:cubicBezTo>
                <a:cubicBezTo>
                  <a:pt x="6384227" y="3807490"/>
                  <a:pt x="6365561" y="3727296"/>
                  <a:pt x="6359621" y="3847892"/>
                </a:cubicBezTo>
                <a:cubicBezTo>
                  <a:pt x="6342065" y="3848387"/>
                  <a:pt x="6336582" y="3860219"/>
                  <a:pt x="6334856" y="3885724"/>
                </a:cubicBezTo>
                <a:cubicBezTo>
                  <a:pt x="6321106" y="3924250"/>
                  <a:pt x="6288462" y="3896248"/>
                  <a:pt x="6293786" y="3949434"/>
                </a:cubicBezTo>
                <a:lnTo>
                  <a:pt x="6245606" y="3999200"/>
                </a:lnTo>
                <a:cubicBezTo>
                  <a:pt x="6252452" y="3999667"/>
                  <a:pt x="6147291" y="4071013"/>
                  <a:pt x="6141951" y="4086732"/>
                </a:cubicBezTo>
                <a:lnTo>
                  <a:pt x="6078664" y="4186250"/>
                </a:lnTo>
                <a:cubicBezTo>
                  <a:pt x="6043445" y="4216806"/>
                  <a:pt x="6044102" y="4223020"/>
                  <a:pt x="6022393" y="4256032"/>
                </a:cubicBezTo>
                <a:cubicBezTo>
                  <a:pt x="6000683" y="4289045"/>
                  <a:pt x="6004124" y="4308922"/>
                  <a:pt x="5948407" y="4384326"/>
                </a:cubicBezTo>
                <a:cubicBezTo>
                  <a:pt x="5917508" y="4413425"/>
                  <a:pt x="5922990" y="4499081"/>
                  <a:pt x="5876649" y="4557747"/>
                </a:cubicBezTo>
                <a:cubicBezTo>
                  <a:pt x="5858396" y="4553894"/>
                  <a:pt x="5841562" y="4597689"/>
                  <a:pt x="5843760" y="4628455"/>
                </a:cubicBezTo>
                <a:lnTo>
                  <a:pt x="5770009" y="4708689"/>
                </a:lnTo>
                <a:cubicBezTo>
                  <a:pt x="5744628" y="4703789"/>
                  <a:pt x="5756788" y="4718752"/>
                  <a:pt x="5725056" y="4751553"/>
                </a:cubicBezTo>
                <a:cubicBezTo>
                  <a:pt x="5704052" y="4760054"/>
                  <a:pt x="5698443" y="4778037"/>
                  <a:pt x="5673106" y="4803022"/>
                </a:cubicBezTo>
                <a:cubicBezTo>
                  <a:pt x="5653325" y="4810967"/>
                  <a:pt x="5666864" y="4896812"/>
                  <a:pt x="5646635" y="4918486"/>
                </a:cubicBezTo>
                <a:cubicBezTo>
                  <a:pt x="5631909" y="4941605"/>
                  <a:pt x="5659196" y="4943736"/>
                  <a:pt x="5632308" y="5003261"/>
                </a:cubicBezTo>
                <a:cubicBezTo>
                  <a:pt x="5612112" y="5060835"/>
                  <a:pt x="5619821" y="5064904"/>
                  <a:pt x="5600041" y="5126502"/>
                </a:cubicBezTo>
                <a:cubicBezTo>
                  <a:pt x="5586116" y="5167992"/>
                  <a:pt x="5601826" y="5161046"/>
                  <a:pt x="5593786" y="5183759"/>
                </a:cubicBezTo>
                <a:cubicBezTo>
                  <a:pt x="5561334" y="5210589"/>
                  <a:pt x="5598993" y="5264555"/>
                  <a:pt x="5566847" y="5283130"/>
                </a:cubicBezTo>
                <a:lnTo>
                  <a:pt x="5545211" y="5391620"/>
                </a:lnTo>
                <a:lnTo>
                  <a:pt x="5504490" y="5443028"/>
                </a:lnTo>
                <a:cubicBezTo>
                  <a:pt x="5494192" y="5459332"/>
                  <a:pt x="5499256" y="5522813"/>
                  <a:pt x="5495036" y="5535042"/>
                </a:cubicBezTo>
                <a:cubicBezTo>
                  <a:pt x="5479787" y="5537507"/>
                  <a:pt x="5482184" y="5553460"/>
                  <a:pt x="5481653" y="5579759"/>
                </a:cubicBezTo>
                <a:cubicBezTo>
                  <a:pt x="5471160" y="5620723"/>
                  <a:pt x="5461279" y="5625872"/>
                  <a:pt x="5453795" y="5665992"/>
                </a:cubicBezTo>
                <a:cubicBezTo>
                  <a:pt x="5424217" y="5715929"/>
                  <a:pt x="5429438" y="5686607"/>
                  <a:pt x="5417837" y="5741729"/>
                </a:cubicBezTo>
                <a:cubicBezTo>
                  <a:pt x="5401590" y="5774002"/>
                  <a:pt x="5420077" y="5829059"/>
                  <a:pt x="5398588" y="5893367"/>
                </a:cubicBezTo>
                <a:cubicBezTo>
                  <a:pt x="5382045" y="5933309"/>
                  <a:pt x="5422284" y="5921390"/>
                  <a:pt x="5412427" y="5943796"/>
                </a:cubicBezTo>
                <a:lnTo>
                  <a:pt x="5400101" y="6000335"/>
                </a:lnTo>
                <a:lnTo>
                  <a:pt x="5408124" y="6055832"/>
                </a:lnTo>
                <a:cubicBezTo>
                  <a:pt x="5410319" y="6059068"/>
                  <a:pt x="5377455" y="6104819"/>
                  <a:pt x="5382772" y="6106527"/>
                </a:cubicBezTo>
                <a:lnTo>
                  <a:pt x="5354118" y="6177715"/>
                </a:lnTo>
                <a:cubicBezTo>
                  <a:pt x="5353654" y="6195756"/>
                  <a:pt x="5353188" y="6213795"/>
                  <a:pt x="5352724" y="6231835"/>
                </a:cubicBezTo>
                <a:lnTo>
                  <a:pt x="5314801" y="6378377"/>
                </a:lnTo>
                <a:cubicBezTo>
                  <a:pt x="5286767" y="6424906"/>
                  <a:pt x="5363614" y="6441657"/>
                  <a:pt x="5346289" y="6531204"/>
                </a:cubicBezTo>
                <a:cubicBezTo>
                  <a:pt x="5336370" y="6605939"/>
                  <a:pt x="5310363" y="6768382"/>
                  <a:pt x="5296493" y="6828948"/>
                </a:cubicBezTo>
                <a:cubicBezTo>
                  <a:pt x="5300217" y="6838357"/>
                  <a:pt x="5300699" y="6845216"/>
                  <a:pt x="5299149" y="6850700"/>
                </a:cubicBezTo>
                <a:lnTo>
                  <a:pt x="529399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B039D8-093F-F884-7FD9-18C764F2E2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723840"/>
            <a:ext cx="5119791" cy="6274642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 </a:t>
            </a:r>
            <a:r>
              <a:rPr lang="en-GB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 Data Analysis </a:t>
            </a:r>
          </a:p>
          <a:p>
            <a:r>
              <a:rPr lang="en-GB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project </a:t>
            </a:r>
          </a:p>
          <a:p>
            <a:endParaRPr lang="en-GB" sz="32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Attention Deficit Hyperactivity Disorder(ADHD)</a:t>
            </a:r>
          </a:p>
          <a:p>
            <a:endParaRPr lang="en-US" sz="32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  <a:p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Taqwa Abd Alghani</a:t>
            </a:r>
          </a:p>
          <a:p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18.11.2025</a:t>
            </a:r>
          </a:p>
          <a:p>
            <a:endParaRPr lang="en-US" sz="32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  <a:p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taqwa.ab1990@gmail.com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5AAC39E-8294-44DC-AB9F-2B9F22C39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59350" y="618119"/>
            <a:ext cx="6596369" cy="5615588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0800" dist="12700" dir="30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Rectangle 6">
            <a:extLst>
              <a:ext uri="{FF2B5EF4-FFF2-40B4-BE49-F238E27FC236}">
                <a16:creationId xmlns:a16="http://schemas.microsoft.com/office/drawing/2014/main" id="{11685A1B-C158-49A6-BF8F-0D4868852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48987" y="294856"/>
            <a:ext cx="1367625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 cartoon character on a skateboard&#10;&#10;AI-generated content may be incorrect.">
            <a:extLst>
              <a:ext uri="{FF2B5EF4-FFF2-40B4-BE49-F238E27FC236}">
                <a16:creationId xmlns:a16="http://schemas.microsoft.com/office/drawing/2014/main" id="{BB3CA4A7-98E7-F6AD-002D-995AA35115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0426" y="796413"/>
            <a:ext cx="6174658" cy="5484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593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76D6CDF-C512-4739-B158-55EE955E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03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71F8DB-E4E9-C460-F9D1-849BE86BF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7034"/>
            <a:ext cx="4865240" cy="2100863"/>
          </a:xfrm>
        </p:spPr>
        <p:txBody>
          <a:bodyPr anchor="t">
            <a:normAutofit/>
          </a:bodyPr>
          <a:lstStyle/>
          <a:p>
            <a:pPr algn="ctr"/>
            <a:r>
              <a:rPr lang="en-US" sz="3600" b="1" dirty="0"/>
              <a:t>Data Selection </a:t>
            </a:r>
            <a:br>
              <a:rPr lang="en-US" sz="3600" b="1" dirty="0"/>
            </a:br>
            <a:r>
              <a:rPr lang="en-US" sz="3600" b="1" dirty="0"/>
              <a:t>&amp;</a:t>
            </a:r>
            <a:br>
              <a:rPr lang="en-US" sz="3600" b="1" dirty="0"/>
            </a:br>
            <a:r>
              <a:rPr lang="en-US" sz="3600" b="1" dirty="0"/>
              <a:t> General Overview</a:t>
            </a:r>
            <a:endParaRPr lang="en-US" b="1" dirty="0"/>
          </a:p>
        </p:txBody>
      </p:sp>
      <p:pic>
        <p:nvPicPr>
          <p:cNvPr id="9" name="Picture 8" descr="A child with her head on her hands&#10;&#10;AI-generated content may be incorrect.">
            <a:extLst>
              <a:ext uri="{FF2B5EF4-FFF2-40B4-BE49-F238E27FC236}">
                <a16:creationId xmlns:a16="http://schemas.microsoft.com/office/drawing/2014/main" id="{94103CBD-0B1B-8112-92CB-0B29B7B862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83" b="12365"/>
          <a:stretch>
            <a:fillRect/>
          </a:stretch>
        </p:blipFill>
        <p:spPr>
          <a:xfrm>
            <a:off x="-11006" y="3105151"/>
            <a:ext cx="6448424" cy="3752849"/>
          </a:xfrm>
          <a:custGeom>
            <a:avLst/>
            <a:gdLst/>
            <a:ahLst/>
            <a:cxnLst/>
            <a:rect l="l" t="t" r="r" b="b"/>
            <a:pathLst>
              <a:path w="6448424" h="3752849">
                <a:moveTo>
                  <a:pt x="0" y="0"/>
                </a:moveTo>
                <a:lnTo>
                  <a:pt x="137978" y="22215"/>
                </a:lnTo>
                <a:cubicBezTo>
                  <a:pt x="196046" y="32277"/>
                  <a:pt x="252469" y="42437"/>
                  <a:pt x="295660" y="49771"/>
                </a:cubicBezTo>
                <a:cubicBezTo>
                  <a:pt x="364885" y="66610"/>
                  <a:pt x="403214" y="32071"/>
                  <a:pt x="456941" y="65635"/>
                </a:cubicBezTo>
                <a:cubicBezTo>
                  <a:pt x="529612" y="69090"/>
                  <a:pt x="662508" y="71245"/>
                  <a:pt x="731691" y="70501"/>
                </a:cubicBezTo>
                <a:cubicBezTo>
                  <a:pt x="768741" y="62400"/>
                  <a:pt x="808263" y="64633"/>
                  <a:pt x="841820" y="61171"/>
                </a:cubicBezTo>
                <a:cubicBezTo>
                  <a:pt x="958973" y="43639"/>
                  <a:pt x="1009730" y="45863"/>
                  <a:pt x="1068219" y="39136"/>
                </a:cubicBezTo>
                <a:cubicBezTo>
                  <a:pt x="1104329" y="33447"/>
                  <a:pt x="1156536" y="44203"/>
                  <a:pt x="1174190" y="38808"/>
                </a:cubicBezTo>
                <a:cubicBezTo>
                  <a:pt x="1188943" y="36385"/>
                  <a:pt x="1213832" y="14880"/>
                  <a:pt x="1225923" y="34507"/>
                </a:cubicBezTo>
                <a:cubicBezTo>
                  <a:pt x="1305283" y="8501"/>
                  <a:pt x="1319617" y="30839"/>
                  <a:pt x="1385617" y="18003"/>
                </a:cubicBezTo>
                <a:cubicBezTo>
                  <a:pt x="1461876" y="-26747"/>
                  <a:pt x="1519510" y="56342"/>
                  <a:pt x="1563967" y="4638"/>
                </a:cubicBezTo>
                <a:lnTo>
                  <a:pt x="1676634" y="10582"/>
                </a:lnTo>
                <a:lnTo>
                  <a:pt x="1769429" y="20265"/>
                </a:lnTo>
                <a:cubicBezTo>
                  <a:pt x="1790625" y="23534"/>
                  <a:pt x="1880369" y="18448"/>
                  <a:pt x="1900584" y="27732"/>
                </a:cubicBezTo>
                <a:cubicBezTo>
                  <a:pt x="2072430" y="22762"/>
                  <a:pt x="2014935" y="5831"/>
                  <a:pt x="2127041" y="22101"/>
                </a:cubicBezTo>
                <a:cubicBezTo>
                  <a:pt x="2168847" y="65820"/>
                  <a:pt x="2153052" y="28773"/>
                  <a:pt x="2211644" y="44507"/>
                </a:cubicBezTo>
                <a:cubicBezTo>
                  <a:pt x="2211201" y="9921"/>
                  <a:pt x="2277596" y="73686"/>
                  <a:pt x="2299605" y="38004"/>
                </a:cubicBezTo>
                <a:cubicBezTo>
                  <a:pt x="2309570" y="41997"/>
                  <a:pt x="2318531" y="46991"/>
                  <a:pt x="2327359" y="52270"/>
                </a:cubicBezTo>
                <a:lnTo>
                  <a:pt x="2331995" y="55017"/>
                </a:lnTo>
                <a:lnTo>
                  <a:pt x="2353777" y="59755"/>
                </a:lnTo>
                <a:lnTo>
                  <a:pt x="2355893" y="68914"/>
                </a:lnTo>
                <a:lnTo>
                  <a:pt x="2385794" y="81650"/>
                </a:lnTo>
                <a:cubicBezTo>
                  <a:pt x="2397613" y="85211"/>
                  <a:pt x="2411061" y="87627"/>
                  <a:pt x="2427010" y="88184"/>
                </a:cubicBezTo>
                <a:cubicBezTo>
                  <a:pt x="2486314" y="76422"/>
                  <a:pt x="2553170" y="126870"/>
                  <a:pt x="2627153" y="110451"/>
                </a:cubicBezTo>
                <a:cubicBezTo>
                  <a:pt x="2653722" y="107383"/>
                  <a:pt x="2732043" y="116068"/>
                  <a:pt x="2744462" y="128780"/>
                </a:cubicBezTo>
                <a:cubicBezTo>
                  <a:pt x="2760299" y="132873"/>
                  <a:pt x="2780248" y="130843"/>
                  <a:pt x="2785202" y="143610"/>
                </a:cubicBezTo>
                <a:cubicBezTo>
                  <a:pt x="2794558" y="159316"/>
                  <a:pt x="2856498" y="142821"/>
                  <a:pt x="2844667" y="159029"/>
                </a:cubicBezTo>
                <a:cubicBezTo>
                  <a:pt x="2888530" y="147871"/>
                  <a:pt x="2914187" y="181391"/>
                  <a:pt x="2946649" y="192330"/>
                </a:cubicBezTo>
                <a:cubicBezTo>
                  <a:pt x="2981872" y="180417"/>
                  <a:pt x="3015239" y="215115"/>
                  <a:pt x="3088812" y="226485"/>
                </a:cubicBezTo>
                <a:cubicBezTo>
                  <a:pt x="3127734" y="212524"/>
                  <a:pt x="3138301" y="234381"/>
                  <a:pt x="3208669" y="217774"/>
                </a:cubicBezTo>
                <a:cubicBezTo>
                  <a:pt x="3242208" y="219284"/>
                  <a:pt x="3229623" y="233297"/>
                  <a:pt x="3290045" y="235553"/>
                </a:cubicBezTo>
                <a:cubicBezTo>
                  <a:pt x="3399655" y="215239"/>
                  <a:pt x="3444518" y="245862"/>
                  <a:pt x="3529335" y="249571"/>
                </a:cubicBezTo>
                <a:cubicBezTo>
                  <a:pt x="3623697" y="257405"/>
                  <a:pt x="3587652" y="268832"/>
                  <a:pt x="3716766" y="252690"/>
                </a:cubicBezTo>
                <a:cubicBezTo>
                  <a:pt x="3723469" y="267318"/>
                  <a:pt x="3737863" y="269842"/>
                  <a:pt x="3765333" y="266823"/>
                </a:cubicBezTo>
                <a:cubicBezTo>
                  <a:pt x="3810754" y="271601"/>
                  <a:pt x="3792745" y="303866"/>
                  <a:pt x="3846897" y="290090"/>
                </a:cubicBezTo>
                <a:cubicBezTo>
                  <a:pt x="3830941" y="306608"/>
                  <a:pt x="3929114" y="308026"/>
                  <a:pt x="3900217" y="323590"/>
                </a:cubicBezTo>
                <a:cubicBezTo>
                  <a:pt x="3922367" y="343425"/>
                  <a:pt x="3948574" y="318948"/>
                  <a:pt x="3971444" y="336662"/>
                </a:cubicBezTo>
                <a:cubicBezTo>
                  <a:pt x="4002781" y="344193"/>
                  <a:pt x="3960997" y="315419"/>
                  <a:pt x="3997868" y="318867"/>
                </a:cubicBezTo>
                <a:cubicBezTo>
                  <a:pt x="4041159" y="326219"/>
                  <a:pt x="4055435" y="293981"/>
                  <a:pt x="4070852" y="339615"/>
                </a:cubicBezTo>
                <a:cubicBezTo>
                  <a:pt x="4121286" y="335828"/>
                  <a:pt x="4121920" y="355506"/>
                  <a:pt x="4180483" y="373369"/>
                </a:cubicBezTo>
                <a:cubicBezTo>
                  <a:pt x="4211379" y="366707"/>
                  <a:pt x="4230171" y="374664"/>
                  <a:pt x="4246264" y="387458"/>
                </a:cubicBezTo>
                <a:cubicBezTo>
                  <a:pt x="4308508" y="393310"/>
                  <a:pt x="4357326" y="416142"/>
                  <a:pt x="4423169" y="431783"/>
                </a:cubicBezTo>
                <a:lnTo>
                  <a:pt x="4446752" y="435383"/>
                </a:lnTo>
                <a:lnTo>
                  <a:pt x="4446954" y="435566"/>
                </a:lnTo>
                <a:cubicBezTo>
                  <a:pt x="4508528" y="480137"/>
                  <a:pt x="4617740" y="529869"/>
                  <a:pt x="4662523" y="553169"/>
                </a:cubicBezTo>
                <a:cubicBezTo>
                  <a:pt x="4720320" y="547046"/>
                  <a:pt x="4678644" y="560102"/>
                  <a:pt x="4715641" y="575354"/>
                </a:cubicBezTo>
                <a:cubicBezTo>
                  <a:pt x="4682056" y="593278"/>
                  <a:pt x="4768370" y="586520"/>
                  <a:pt x="4742071" y="614016"/>
                </a:cubicBezTo>
                <a:cubicBezTo>
                  <a:pt x="4749637" y="615922"/>
                  <a:pt x="4757797" y="616899"/>
                  <a:pt x="4766183" y="617675"/>
                </a:cubicBezTo>
                <a:lnTo>
                  <a:pt x="4770562" y="618094"/>
                </a:lnTo>
                <a:lnTo>
                  <a:pt x="4783240" y="624350"/>
                </a:lnTo>
                <a:lnTo>
                  <a:pt x="4792882" y="620401"/>
                </a:lnTo>
                <a:lnTo>
                  <a:pt x="4816310" y="625721"/>
                </a:lnTo>
                <a:cubicBezTo>
                  <a:pt x="4824144" y="628595"/>
                  <a:pt x="4831482" y="632720"/>
                  <a:pt x="4837953" y="638824"/>
                </a:cubicBezTo>
                <a:cubicBezTo>
                  <a:pt x="4848645" y="668753"/>
                  <a:pt x="4922266" y="669148"/>
                  <a:pt x="4933914" y="707398"/>
                </a:cubicBezTo>
                <a:cubicBezTo>
                  <a:pt x="4940833" y="719653"/>
                  <a:pt x="4978358" y="746502"/>
                  <a:pt x="4995259" y="744825"/>
                </a:cubicBezTo>
                <a:cubicBezTo>
                  <a:pt x="5005107" y="749034"/>
                  <a:pt x="5010567" y="758092"/>
                  <a:pt x="5024744" y="753396"/>
                </a:cubicBezTo>
                <a:cubicBezTo>
                  <a:pt x="5047511" y="761361"/>
                  <a:pt x="5109162" y="783016"/>
                  <a:pt x="5131877" y="792613"/>
                </a:cubicBezTo>
                <a:cubicBezTo>
                  <a:pt x="5132671" y="802792"/>
                  <a:pt x="5144554" y="806683"/>
                  <a:pt x="5161031" y="810975"/>
                </a:cubicBezTo>
                <a:lnTo>
                  <a:pt x="5176815" y="815342"/>
                </a:lnTo>
                <a:lnTo>
                  <a:pt x="5180064" y="831233"/>
                </a:lnTo>
                <a:cubicBezTo>
                  <a:pt x="5202966" y="819270"/>
                  <a:pt x="5188976" y="863361"/>
                  <a:pt x="5215059" y="865080"/>
                </a:cubicBezTo>
                <a:cubicBezTo>
                  <a:pt x="5235765" y="864786"/>
                  <a:pt x="5236347" y="878098"/>
                  <a:pt x="5245643" y="887119"/>
                </a:cubicBezTo>
                <a:cubicBezTo>
                  <a:pt x="5267660" y="891609"/>
                  <a:pt x="5295742" y="939348"/>
                  <a:pt x="5295952" y="957174"/>
                </a:cubicBezTo>
                <a:cubicBezTo>
                  <a:pt x="5284322" y="1008946"/>
                  <a:pt x="5374979" y="1038019"/>
                  <a:pt x="5367826" y="1079140"/>
                </a:cubicBezTo>
                <a:cubicBezTo>
                  <a:pt x="5371668" y="1089190"/>
                  <a:pt x="5377921" y="1097135"/>
                  <a:pt x="5385646" y="1103730"/>
                </a:cubicBezTo>
                <a:lnTo>
                  <a:pt x="5410965" y="1119397"/>
                </a:lnTo>
                <a:lnTo>
                  <a:pt x="5436960" y="1130910"/>
                </a:lnTo>
                <a:lnTo>
                  <a:pt x="5442083" y="1133134"/>
                </a:lnTo>
                <a:cubicBezTo>
                  <a:pt x="5451910" y="1137346"/>
                  <a:pt x="5457170" y="1169188"/>
                  <a:pt x="5465219" y="1174479"/>
                </a:cubicBezTo>
                <a:cubicBezTo>
                  <a:pt x="5488744" y="1195184"/>
                  <a:pt x="5467141" y="1223401"/>
                  <a:pt x="5488171" y="1238604"/>
                </a:cubicBezTo>
                <a:cubicBezTo>
                  <a:pt x="5523491" y="1271811"/>
                  <a:pt x="5486623" y="1305961"/>
                  <a:pt x="5562172" y="1320840"/>
                </a:cubicBezTo>
                <a:cubicBezTo>
                  <a:pt x="5601634" y="1385316"/>
                  <a:pt x="5636528" y="1453139"/>
                  <a:pt x="5686905" y="1512529"/>
                </a:cubicBezTo>
                <a:cubicBezTo>
                  <a:pt x="5729049" y="1575678"/>
                  <a:pt x="5699691" y="1553768"/>
                  <a:pt x="5748726" y="1623716"/>
                </a:cubicBezTo>
                <a:cubicBezTo>
                  <a:pt x="5783098" y="1689734"/>
                  <a:pt x="5789710" y="1639740"/>
                  <a:pt x="5842593" y="1726595"/>
                </a:cubicBezTo>
                <a:cubicBezTo>
                  <a:pt x="5837824" y="1733043"/>
                  <a:pt x="5862023" y="1845188"/>
                  <a:pt x="5861042" y="1851837"/>
                </a:cubicBezTo>
                <a:cubicBezTo>
                  <a:pt x="5874156" y="1887981"/>
                  <a:pt x="5901790" y="1919218"/>
                  <a:pt x="5921290" y="1943460"/>
                </a:cubicBezTo>
                <a:lnTo>
                  <a:pt x="5978046" y="1997284"/>
                </a:lnTo>
                <a:lnTo>
                  <a:pt x="5992479" y="2056720"/>
                </a:lnTo>
                <a:cubicBezTo>
                  <a:pt x="6011078" y="2079033"/>
                  <a:pt x="6072687" y="2117397"/>
                  <a:pt x="6089639" y="2131171"/>
                </a:cubicBezTo>
                <a:lnTo>
                  <a:pt x="6094199" y="2139379"/>
                </a:lnTo>
                <a:lnTo>
                  <a:pt x="6094822" y="2139386"/>
                </a:lnTo>
                <a:cubicBezTo>
                  <a:pt x="6096947" y="2140841"/>
                  <a:pt x="6098876" y="2143416"/>
                  <a:pt x="6100692" y="2147736"/>
                </a:cubicBezTo>
                <a:lnTo>
                  <a:pt x="6102516" y="2154343"/>
                </a:lnTo>
                <a:lnTo>
                  <a:pt x="6111361" y="2170264"/>
                </a:lnTo>
                <a:lnTo>
                  <a:pt x="6215475" y="2270153"/>
                </a:lnTo>
                <a:lnTo>
                  <a:pt x="6255966" y="2335401"/>
                </a:lnTo>
                <a:lnTo>
                  <a:pt x="6272711" y="2385144"/>
                </a:lnTo>
                <a:cubicBezTo>
                  <a:pt x="6282320" y="2406495"/>
                  <a:pt x="6299066" y="2405139"/>
                  <a:pt x="6304347" y="2439388"/>
                </a:cubicBezTo>
                <a:cubicBezTo>
                  <a:pt x="6297131" y="2486231"/>
                  <a:pt x="6325530" y="2500962"/>
                  <a:pt x="6326729" y="2549400"/>
                </a:cubicBezTo>
                <a:cubicBezTo>
                  <a:pt x="6325926" y="2572066"/>
                  <a:pt x="6339111" y="2599957"/>
                  <a:pt x="6344663" y="2628839"/>
                </a:cubicBezTo>
                <a:lnTo>
                  <a:pt x="6375811" y="2639204"/>
                </a:lnTo>
                <a:cubicBezTo>
                  <a:pt x="6375427" y="2643533"/>
                  <a:pt x="6375041" y="2647863"/>
                  <a:pt x="6374657" y="2652193"/>
                </a:cubicBezTo>
                <a:cubicBezTo>
                  <a:pt x="6373555" y="2658134"/>
                  <a:pt x="6371943" y="2662665"/>
                  <a:pt x="6369740" y="2664642"/>
                </a:cubicBezTo>
                <a:cubicBezTo>
                  <a:pt x="6368032" y="2674540"/>
                  <a:pt x="6371528" y="2686899"/>
                  <a:pt x="6361964" y="2690172"/>
                </a:cubicBezTo>
                <a:cubicBezTo>
                  <a:pt x="6350507" y="2696218"/>
                  <a:pt x="6369375" y="2734440"/>
                  <a:pt x="6355511" y="2727335"/>
                </a:cubicBezTo>
                <a:cubicBezTo>
                  <a:pt x="6358746" y="2734104"/>
                  <a:pt x="6360434" y="2742096"/>
                  <a:pt x="6361058" y="2750592"/>
                </a:cubicBezTo>
                <a:cubicBezTo>
                  <a:pt x="6361013" y="2751998"/>
                  <a:pt x="6360970" y="2753408"/>
                  <a:pt x="6360926" y="2754814"/>
                </a:cubicBezTo>
                <a:lnTo>
                  <a:pt x="6339285" y="2810353"/>
                </a:lnTo>
                <a:cubicBezTo>
                  <a:pt x="6360091" y="2854187"/>
                  <a:pt x="6313103" y="2870086"/>
                  <a:pt x="6325672" y="2908809"/>
                </a:cubicBezTo>
                <a:cubicBezTo>
                  <a:pt x="6341563" y="2966972"/>
                  <a:pt x="6291836" y="2935388"/>
                  <a:pt x="6333498" y="3009772"/>
                </a:cubicBezTo>
                <a:cubicBezTo>
                  <a:pt x="6345476" y="3039254"/>
                  <a:pt x="6345955" y="3068963"/>
                  <a:pt x="6334947" y="3095405"/>
                </a:cubicBezTo>
                <a:lnTo>
                  <a:pt x="6344768" y="3155941"/>
                </a:lnTo>
                <a:cubicBezTo>
                  <a:pt x="6348643" y="3153663"/>
                  <a:pt x="6311793" y="3186588"/>
                  <a:pt x="6314754" y="3197987"/>
                </a:cubicBezTo>
                <a:cubicBezTo>
                  <a:pt x="6318695" y="3221971"/>
                  <a:pt x="6319257" y="3226752"/>
                  <a:pt x="6304230" y="3239690"/>
                </a:cubicBezTo>
                <a:cubicBezTo>
                  <a:pt x="6306321" y="3248567"/>
                  <a:pt x="6307305" y="3254005"/>
                  <a:pt x="6308837" y="3264003"/>
                </a:cubicBezTo>
                <a:cubicBezTo>
                  <a:pt x="6301812" y="3288243"/>
                  <a:pt x="6298529" y="3302527"/>
                  <a:pt x="6309285" y="3324103"/>
                </a:cubicBezTo>
                <a:cubicBezTo>
                  <a:pt x="6301188" y="3343007"/>
                  <a:pt x="6329285" y="3359307"/>
                  <a:pt x="6342503" y="3405661"/>
                </a:cubicBezTo>
                <a:cubicBezTo>
                  <a:pt x="6338012" y="3447477"/>
                  <a:pt x="6408325" y="3505721"/>
                  <a:pt x="6401531" y="3550593"/>
                </a:cubicBezTo>
                <a:cubicBezTo>
                  <a:pt x="6395655" y="3579549"/>
                  <a:pt x="6423437" y="3594758"/>
                  <a:pt x="6427705" y="3624684"/>
                </a:cubicBezTo>
                <a:cubicBezTo>
                  <a:pt x="6416402" y="3629199"/>
                  <a:pt x="6435787" y="3639516"/>
                  <a:pt x="6448424" y="3657106"/>
                </a:cubicBezTo>
                <a:lnTo>
                  <a:pt x="6444014" y="3752742"/>
                </a:lnTo>
                <a:cubicBezTo>
                  <a:pt x="6443990" y="3752777"/>
                  <a:pt x="6443967" y="3752813"/>
                  <a:pt x="6443946" y="3752849"/>
                </a:cubicBezTo>
                <a:lnTo>
                  <a:pt x="0" y="3752849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018BF-6893-CF46-650C-635EACE17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3212" y="297560"/>
            <a:ext cx="6016169" cy="6737417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800" b="1" u="sng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https://www.kaggle.com/datasets/a7md19/adhd-dataset-4-classes-u2?select=adhd_data.csv</a:t>
            </a:r>
            <a:endParaRPr lang="en-US" sz="1800" b="1" u="sng" dirty="0">
              <a:solidFill>
                <a:schemeClr val="accent1">
                  <a:lumMod val="60000"/>
                  <a:lumOff val="40000"/>
                </a:schemeClr>
              </a:solidFill>
              <a:latin typeface="+mj-lt"/>
            </a:endParaRPr>
          </a:p>
          <a:p>
            <a:endParaRPr lang="en-US" sz="1700" u="sng" dirty="0">
              <a:latin typeface="+mj-lt"/>
            </a:endParaRPr>
          </a:p>
          <a:p>
            <a:pPr marL="0" indent="0">
              <a:buNone/>
            </a:pPr>
            <a:r>
              <a:rPr lang="en-US" sz="2400" b="1" dirty="0">
                <a:latin typeface="+mj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Attention Deficit Hyperactivity Disorder</a:t>
            </a:r>
            <a:r>
              <a:rPr lang="en-US" sz="2400" b="1" dirty="0">
                <a:latin typeface="+mj-lt"/>
              </a:rPr>
              <a:t> (ADHD)</a:t>
            </a:r>
            <a:endParaRPr lang="en-US" sz="2400" u="sng" dirty="0">
              <a:latin typeface="+mj-lt"/>
            </a:endParaRPr>
          </a:p>
          <a:p>
            <a:pPr marL="0" indent="0">
              <a:buNone/>
            </a:pPr>
            <a:r>
              <a:rPr lang="en-US" sz="2000" dirty="0">
                <a:latin typeface="+mj-lt"/>
              </a:rPr>
              <a:t>-A common neurological disorder that affects the behavior of children and adults .</a:t>
            </a:r>
            <a:endParaRPr lang="ar-LB" sz="2000" dirty="0">
              <a:latin typeface="+mj-lt"/>
            </a:endParaRPr>
          </a:p>
          <a:p>
            <a:pPr marL="0" indent="0">
              <a:buNone/>
            </a:pPr>
            <a:r>
              <a:rPr lang="en-US" sz="2000" dirty="0">
                <a:latin typeface="+mj-lt"/>
              </a:rPr>
              <a:t>-Types: Inattention - Hyperactivity – Impulsivity .</a:t>
            </a:r>
          </a:p>
          <a:p>
            <a:pPr marL="0" indent="0">
              <a:buNone/>
            </a:pPr>
            <a:r>
              <a:rPr lang="en-US" sz="2000" dirty="0">
                <a:latin typeface="+mj-lt"/>
              </a:rPr>
              <a:t>-Diagnostic process : </a:t>
            </a:r>
          </a:p>
          <a:p>
            <a:pPr marL="0" indent="0">
              <a:buNone/>
            </a:pPr>
            <a:r>
              <a:rPr lang="en-US" sz="2000" dirty="0">
                <a:latin typeface="+mj-lt"/>
              </a:rPr>
              <a:t>1- Comprehensive assessment</a:t>
            </a:r>
          </a:p>
          <a:p>
            <a:pPr marL="0" indent="0">
              <a:buNone/>
            </a:pPr>
            <a:r>
              <a:rPr lang="en-US" sz="2000" dirty="0">
                <a:latin typeface="+mj-lt"/>
              </a:rPr>
              <a:t>2- Clinical observation Information gathering</a:t>
            </a:r>
          </a:p>
          <a:p>
            <a:pPr marL="0" indent="0">
              <a:buNone/>
            </a:pPr>
            <a:r>
              <a:rPr lang="en-US" sz="2000" dirty="0">
                <a:latin typeface="+mj-lt"/>
              </a:rPr>
              <a:t>3- Personal and family history</a:t>
            </a:r>
            <a:endParaRPr lang="ar-LB" sz="2000" dirty="0">
              <a:latin typeface="+mj-lt"/>
            </a:endParaRPr>
          </a:p>
          <a:p>
            <a:pPr marL="0" indent="0">
              <a:buNone/>
            </a:pPr>
            <a:r>
              <a:rPr lang="en-US" sz="2000" dirty="0">
                <a:latin typeface="+mj-lt"/>
              </a:rPr>
              <a:t>-No cure for ADHD</a:t>
            </a:r>
          </a:p>
          <a:p>
            <a:endParaRPr lang="en-US" sz="1700" dirty="0">
              <a:latin typeface="+mj-lt"/>
            </a:endParaRPr>
          </a:p>
          <a:p>
            <a:endParaRPr lang="en-US" sz="17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33939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6646FC9-C66D-4EC7-8310-0DD4ACC49C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3473CF9-37EB-43E7-89EF-D2D1C53D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221673"/>
            <a:ext cx="8384770" cy="1332634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7F97F0-5841-C58B-6F71-2B3633A90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0193" y="540456"/>
            <a:ext cx="6411614" cy="1038228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b="1" dirty="0"/>
              <a:t>Excel Table</a:t>
            </a:r>
            <a:br>
              <a:rPr lang="en-US" sz="3200" b="1" dirty="0"/>
            </a:br>
            <a:r>
              <a:rPr lang="en-US" sz="3200" b="1" dirty="0"/>
              <a:t>(6500 rows × 32 columns)</a:t>
            </a:r>
            <a:br>
              <a:rPr lang="en-US" sz="3600" b="1" dirty="0"/>
            </a:br>
            <a:endParaRPr lang="en-US" sz="3600" b="1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86B4EF9-43BA-4655-A6FF-1D8E21574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121140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venir Next LT Pro"/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7D80132-D4A8-2252-A63B-DBDE51FCA4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5260" y="2195956"/>
            <a:ext cx="5278822" cy="3726249"/>
          </a:xfrm>
          <a:prstGeom prst="rect">
            <a:avLst/>
          </a:prstGeom>
        </p:spPr>
      </p:pic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755F5EE-EFF1-189B-D680-87C4D69238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219" y="2195956"/>
            <a:ext cx="5278822" cy="3781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326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429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C07D4C-7D31-A8DA-4D6C-623451D6A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85" y="1999801"/>
            <a:ext cx="3991897" cy="2497394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Let’s Define The Features</a:t>
            </a: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BA1A7-C436-2A9E-4A1B-20185080B0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4219" y="719164"/>
            <a:ext cx="7186531" cy="5585619"/>
          </a:xfrm>
        </p:spPr>
        <p:txBody>
          <a:bodyPr anchor="ctr">
            <a:noAutofit/>
          </a:bodyPr>
          <a:lstStyle/>
          <a:p>
            <a:r>
              <a:rPr lang="en-US" sz="1600" b="1" dirty="0">
                <a:latin typeface="+mj-lt"/>
              </a:rPr>
              <a:t>Age</a:t>
            </a:r>
          </a:p>
          <a:p>
            <a:r>
              <a:rPr lang="en-US" sz="1600" b="1" dirty="0">
                <a:latin typeface="+mj-lt"/>
              </a:rPr>
              <a:t>Gender: (1-male \ 2-female )</a:t>
            </a:r>
          </a:p>
          <a:p>
            <a:r>
              <a:rPr lang="en-US" sz="1600" b="1" dirty="0">
                <a:latin typeface="+mj-lt"/>
              </a:rPr>
              <a:t>Educational Level: ( Kindergarten \ Primary \ Middle \ Secondary \ University \ Working \ Not Working )</a:t>
            </a:r>
          </a:p>
          <a:p>
            <a:r>
              <a:rPr lang="en-US" sz="1600" b="1" dirty="0">
                <a:latin typeface="+mj-lt"/>
              </a:rPr>
              <a:t>Family History: ( Yes \ No \ Unknown )</a:t>
            </a:r>
          </a:p>
          <a:p>
            <a:r>
              <a:rPr lang="en-US" sz="1600" b="1" dirty="0">
                <a:latin typeface="+mj-lt"/>
              </a:rPr>
              <a:t>Sleep Hours Per Day</a:t>
            </a:r>
          </a:p>
          <a:p>
            <a:r>
              <a:rPr lang="en-US" sz="1600" b="1" dirty="0">
                <a:latin typeface="+mj-lt"/>
              </a:rPr>
              <a:t>Daily Activity Hours</a:t>
            </a:r>
          </a:p>
          <a:p>
            <a:r>
              <a:rPr lang="en-US" sz="1600" b="1" dirty="0">
                <a:latin typeface="+mj-lt"/>
              </a:rPr>
              <a:t>Q1.1-9 (self Questionnaire)</a:t>
            </a:r>
          </a:p>
          <a:p>
            <a:r>
              <a:rPr lang="en-US" sz="1600" b="1" dirty="0">
                <a:latin typeface="+mj-lt"/>
              </a:rPr>
              <a:t>Q2.1-9 (observable Questionnaire)</a:t>
            </a:r>
          </a:p>
          <a:p>
            <a:r>
              <a:rPr lang="en-US" sz="1600" b="1" dirty="0">
                <a:latin typeface="+mj-lt"/>
              </a:rPr>
              <a:t>Diagnosis Class (0-3): “No ADHD \ Inattentive type \ Hyperactive-Impulsive type \ Combined type “</a:t>
            </a:r>
          </a:p>
          <a:p>
            <a:r>
              <a:rPr lang="en-US" sz="1600" b="1" dirty="0">
                <a:latin typeface="+mj-lt"/>
              </a:rPr>
              <a:t>Daily Phone Usage Hours</a:t>
            </a:r>
          </a:p>
          <a:p>
            <a:r>
              <a:rPr lang="en-US" sz="1600" b="1" dirty="0">
                <a:latin typeface="+mj-lt"/>
              </a:rPr>
              <a:t>Daily Walking Running Hours</a:t>
            </a:r>
          </a:p>
          <a:p>
            <a:r>
              <a:rPr lang="en-US" sz="1600" b="1" dirty="0">
                <a:latin typeface="+mj-lt"/>
              </a:rPr>
              <a:t>Difficulty Organizing Tasks (0-1): “No\Yes”</a:t>
            </a:r>
          </a:p>
          <a:p>
            <a:r>
              <a:rPr lang="en-US" sz="1600" b="1" dirty="0">
                <a:latin typeface="+mj-lt"/>
              </a:rPr>
              <a:t>Focus Score Video (0-10) Daily Coffee Tea Consumption</a:t>
            </a:r>
          </a:p>
          <a:p>
            <a:r>
              <a:rPr lang="en-US" sz="1600" b="1" dirty="0">
                <a:latin typeface="+mj-lt"/>
              </a:rPr>
              <a:t>Learning Difficulties (0-1): “No\Yes”</a:t>
            </a:r>
          </a:p>
          <a:p>
            <a:r>
              <a:rPr lang="en-US" sz="1600" b="1" dirty="0">
                <a:latin typeface="+mj-lt"/>
              </a:rPr>
              <a:t>Anxiety Depression Levels (0-3): “No Anxiety-Depression \ mild \ moderate \ severe”</a:t>
            </a:r>
          </a:p>
        </p:txBody>
      </p:sp>
    </p:spTree>
    <p:extLst>
      <p:ext uri="{BB962C8B-B14F-4D97-AF65-F5344CB8AC3E}">
        <p14:creationId xmlns:p14="http://schemas.microsoft.com/office/powerpoint/2010/main" val="1157543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76906711-0AFB-47DD-A4B6-4E94B38B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AA91F649-894C-41F6-A21D-3D1AC558E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F0D496-516D-95EC-6D4F-7A92E3131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656" y="508513"/>
            <a:ext cx="10909640" cy="15103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kern="1200" dirty="0">
                <a:ea typeface="+mj-ea"/>
                <a:cs typeface="+mj-cs"/>
              </a:rPr>
              <a:t>Entering Data Into Python</a:t>
            </a:r>
          </a:p>
        </p:txBody>
      </p:sp>
      <p:sp>
        <p:nvSpPr>
          <p:cNvPr id="44" name="sketch line">
            <a:extLst>
              <a:ext uri="{FF2B5EF4-FFF2-40B4-BE49-F238E27FC236}">
                <a16:creationId xmlns:a16="http://schemas.microsoft.com/office/drawing/2014/main" id="{56037404-66BD-46B5-9323-1B5313196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1753266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FE6E637C-05CF-E0AD-8D6C-CA56E3C704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2277" y="3067050"/>
            <a:ext cx="7644398" cy="3019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662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2E9B2EE-76CA-47F3-9977-3F2FCB7FD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1739239"/>
            <a:ext cx="0" cy="320040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27B8689-C366-DEA0-365F-EE766006CB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1343" y="2263390"/>
            <a:ext cx="4714391" cy="3772021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10D1EE0-7BB7-2FE1-19E3-AFA554CD44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266" y="722125"/>
            <a:ext cx="5484779" cy="4720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912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A077326-FCFF-1321-C145-B0F78D6E71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583" y="1179871"/>
            <a:ext cx="5160185" cy="4537640"/>
          </a:xfrm>
          <a:prstGeom prst="rect">
            <a:avLst/>
          </a:prstGeom>
        </p:spPr>
      </p:pic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2E9B2EE-76CA-47F3-9977-3F2FCB7FD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1739239"/>
            <a:ext cx="0" cy="320040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56907D2-D95C-FEAF-B51D-E2EB75486B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2814" y="1097616"/>
            <a:ext cx="5132111" cy="4619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431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0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CDB0F1DB-931F-F564-40E2-742C04A1B1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531" y="1095270"/>
            <a:ext cx="5323749" cy="4712677"/>
          </a:xfrm>
          <a:prstGeom prst="rect">
            <a:avLst/>
          </a:prstGeom>
        </p:spPr>
      </p:pic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2E9B2EE-76CA-47F3-9977-3F2FCB7FD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1739239"/>
            <a:ext cx="0" cy="320040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7A35995-458C-BC5F-62BA-B83FF76114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2424" y="1095270"/>
            <a:ext cx="5306039" cy="4592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97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7718681-A12E-49D6-9925-DD7C68176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FBD77573-9EF2-4C35-8285-A1CF6FBB0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511704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01FBB9-05AE-DBBE-E2DC-0558D7AAE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903" y="1113274"/>
            <a:ext cx="3124864" cy="4250453"/>
          </a:xfrm>
        </p:spPr>
        <p:txBody>
          <a:bodyPr>
            <a:normAutofit/>
          </a:bodyPr>
          <a:lstStyle/>
          <a:p>
            <a:r>
              <a:rPr lang="en-US" sz="3600" b="1" dirty="0"/>
              <a:t>Define Your Research </a:t>
            </a:r>
            <a:br>
              <a:rPr lang="en-US" sz="3600" b="1" dirty="0"/>
            </a:br>
            <a:r>
              <a:rPr lang="en-US" sz="3600" b="1" dirty="0"/>
              <a:t>Questions 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1ABAA-D619-7D5A-DCBF-E672A80104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5339" y="196644"/>
            <a:ext cx="6318596" cy="6661356"/>
          </a:xfrm>
        </p:spPr>
        <p:txBody>
          <a:bodyPr anchor="ctr">
            <a:normAutofit/>
          </a:bodyPr>
          <a:lstStyle/>
          <a:p>
            <a:r>
              <a:rPr lang="en-US" sz="2000" b="1" dirty="0">
                <a:latin typeface="+mj-lt"/>
              </a:rPr>
              <a:t>General Profile :</a:t>
            </a:r>
          </a:p>
          <a:p>
            <a:pPr marL="0" indent="0">
              <a:buNone/>
            </a:pPr>
            <a:r>
              <a:rPr lang="en-US" sz="1800" dirty="0">
                <a:latin typeface="+mj-lt"/>
              </a:rPr>
              <a:t>1) Distribution of Age </a:t>
            </a:r>
          </a:p>
          <a:p>
            <a:r>
              <a:rPr lang="en-US" sz="2000" b="1" dirty="0">
                <a:latin typeface="+mj-lt"/>
              </a:rPr>
              <a:t>Population Differences :</a:t>
            </a:r>
          </a:p>
          <a:p>
            <a:pPr marL="0" indent="0">
              <a:buNone/>
            </a:pPr>
            <a:r>
              <a:rPr lang="ar-LB" sz="1800" dirty="0">
                <a:latin typeface="+mj-lt"/>
              </a:rPr>
              <a:t>2</a:t>
            </a:r>
            <a:r>
              <a:rPr lang="en-US" sz="1800" dirty="0">
                <a:latin typeface="+mj-lt"/>
              </a:rPr>
              <a:t>) Distribution of Sleep Hours by Gender </a:t>
            </a:r>
          </a:p>
          <a:p>
            <a:pPr marL="0" indent="0">
              <a:buNone/>
            </a:pPr>
            <a:r>
              <a:rPr lang="ar-LB" sz="1800" dirty="0">
                <a:latin typeface="+mj-lt"/>
              </a:rPr>
              <a:t>3</a:t>
            </a:r>
            <a:r>
              <a:rPr lang="en-US" sz="1800" dirty="0">
                <a:latin typeface="+mj-lt"/>
              </a:rPr>
              <a:t>) A</a:t>
            </a:r>
            <a:r>
              <a:rPr lang="en-US" sz="1800" dirty="0"/>
              <a:t>nxiety severity </a:t>
            </a:r>
            <a:r>
              <a:rPr lang="en-US" sz="1800" dirty="0">
                <a:latin typeface="+mj-lt"/>
              </a:rPr>
              <a:t>× Daily Activity Hours </a:t>
            </a:r>
          </a:p>
          <a:p>
            <a:r>
              <a:rPr lang="en-US" sz="2000" b="1" dirty="0">
                <a:latin typeface="+mj-lt"/>
              </a:rPr>
              <a:t>ADHD Diagnosis :</a:t>
            </a:r>
          </a:p>
          <a:p>
            <a:pPr marL="0" indent="0">
              <a:buNone/>
            </a:pPr>
            <a:r>
              <a:rPr lang="ar-LB" sz="1800" dirty="0">
                <a:latin typeface="+mj-lt"/>
              </a:rPr>
              <a:t>4</a:t>
            </a:r>
            <a:r>
              <a:rPr lang="en-US" sz="1800" dirty="0">
                <a:latin typeface="+mj-lt"/>
              </a:rPr>
              <a:t>) Distribution of ADHD Diagnosis Classes </a:t>
            </a:r>
          </a:p>
          <a:p>
            <a:pPr marL="0" indent="0">
              <a:buNone/>
            </a:pPr>
            <a:r>
              <a:rPr lang="ar-LB" sz="1800" dirty="0">
                <a:latin typeface="+mj-lt"/>
              </a:rPr>
              <a:t>5</a:t>
            </a:r>
            <a:r>
              <a:rPr lang="en-US" sz="1800" dirty="0">
                <a:latin typeface="+mj-lt"/>
              </a:rPr>
              <a:t>) Focus Score by Diagnosis Class </a:t>
            </a:r>
          </a:p>
          <a:p>
            <a:r>
              <a:rPr lang="en-US" sz="2000" b="1" dirty="0">
                <a:latin typeface="+mj-lt"/>
              </a:rPr>
              <a:t>Family &amp; Background :</a:t>
            </a:r>
          </a:p>
          <a:p>
            <a:pPr marL="0" indent="0">
              <a:buNone/>
            </a:pPr>
            <a:r>
              <a:rPr lang="ar-LB" sz="1800" dirty="0">
                <a:latin typeface="+mj-lt"/>
              </a:rPr>
              <a:t>6</a:t>
            </a:r>
            <a:r>
              <a:rPr lang="en-US" sz="1800" dirty="0">
                <a:latin typeface="+mj-lt"/>
              </a:rPr>
              <a:t>) Family History × Diagnosis Class </a:t>
            </a:r>
          </a:p>
          <a:p>
            <a:r>
              <a:rPr lang="en-US" sz="2000" b="1" dirty="0">
                <a:latin typeface="+mj-lt"/>
              </a:rPr>
              <a:t>Psychological &amp; Behavioral Relationships:</a:t>
            </a:r>
          </a:p>
          <a:p>
            <a:pPr marL="0" indent="0">
              <a:buNone/>
            </a:pPr>
            <a:r>
              <a:rPr lang="ar-LB" sz="1800" dirty="0">
                <a:latin typeface="+mj-lt"/>
              </a:rPr>
              <a:t>7</a:t>
            </a:r>
            <a:r>
              <a:rPr lang="en-US" sz="1800" dirty="0">
                <a:latin typeface="+mj-lt"/>
              </a:rPr>
              <a:t>) </a:t>
            </a:r>
            <a:r>
              <a:rPr lang="en-US" sz="1800" dirty="0"/>
              <a:t>diagnosed with the 3 subtypes </a:t>
            </a:r>
            <a:r>
              <a:rPr lang="en-US" sz="1800" dirty="0">
                <a:latin typeface="+mj-lt"/>
              </a:rPr>
              <a:t>×  Learning Difficulties </a:t>
            </a:r>
          </a:p>
          <a:p>
            <a:pPr marL="0" indent="0">
              <a:buNone/>
            </a:pPr>
            <a:r>
              <a:rPr lang="ar-LB" sz="1800" dirty="0">
                <a:latin typeface="+mj-lt"/>
              </a:rPr>
              <a:t>8</a:t>
            </a:r>
            <a:r>
              <a:rPr lang="en-US" sz="1800" dirty="0">
                <a:latin typeface="+mj-lt"/>
              </a:rPr>
              <a:t>) </a:t>
            </a:r>
            <a:r>
              <a:rPr lang="en-US" sz="1800" dirty="0"/>
              <a:t>diagnosed with the 3 subtypes </a:t>
            </a:r>
            <a:r>
              <a:rPr lang="en-US" sz="1800" dirty="0">
                <a:latin typeface="+mj-lt"/>
              </a:rPr>
              <a:t>× Organizing Tasks Difficulties</a:t>
            </a:r>
          </a:p>
          <a:p>
            <a:r>
              <a:rPr lang="en-US" sz="2000" b="1" dirty="0">
                <a:latin typeface="+mj-lt"/>
              </a:rPr>
              <a:t>Self vs Observable Assessment :</a:t>
            </a:r>
          </a:p>
          <a:p>
            <a:pPr marL="0" indent="0">
              <a:buNone/>
            </a:pPr>
            <a:r>
              <a:rPr lang="ar-LB" sz="1800" dirty="0">
                <a:latin typeface="+mj-lt"/>
              </a:rPr>
              <a:t>9</a:t>
            </a:r>
            <a:r>
              <a:rPr lang="en-US" sz="1800" dirty="0">
                <a:latin typeface="+mj-lt"/>
              </a:rPr>
              <a:t>) Relationship between Q1_avg and Q2_avg </a:t>
            </a:r>
          </a:p>
        </p:txBody>
      </p:sp>
      <p:pic>
        <p:nvPicPr>
          <p:cNvPr id="5" name="Picture 4" descr="A question mark made out of multicolored words&#10;&#10;AI-generated content may be incorrect.">
            <a:extLst>
              <a:ext uri="{FF2B5EF4-FFF2-40B4-BE49-F238E27FC236}">
                <a16:creationId xmlns:a16="http://schemas.microsoft.com/office/drawing/2014/main" id="{FC041677-B760-FAFF-1572-6FFF3DBC24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7458" y="4159045"/>
            <a:ext cx="2664542" cy="2409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858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350409-CAA6-7AA1-8218-4DF0446C9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76906711-0AFB-47DD-A4B6-4E94B38B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AA91F649-894C-41F6-A21D-3D1AC558E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C1DEB9-73B1-4247-BEA0-1482DD338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656" y="518345"/>
            <a:ext cx="10909640" cy="15103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kern="1200" dirty="0">
                <a:latin typeface="+mj-lt"/>
                <a:ea typeface="+mj-ea"/>
                <a:cs typeface="+mj-cs"/>
              </a:rPr>
              <a:t>Data Cleaning &amp; Preprocessing </a:t>
            </a:r>
            <a:endParaRPr lang="en-US" sz="3600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29" name="sketch line">
            <a:extLst>
              <a:ext uri="{FF2B5EF4-FFF2-40B4-BE49-F238E27FC236}">
                <a16:creationId xmlns:a16="http://schemas.microsoft.com/office/drawing/2014/main" id="{56037404-66BD-46B5-9323-1B5313196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1753266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group of people using laptops&#10;&#10;AI-generated content may be incorrect.">
            <a:extLst>
              <a:ext uri="{FF2B5EF4-FFF2-40B4-BE49-F238E27FC236}">
                <a16:creationId xmlns:a16="http://schemas.microsoft.com/office/drawing/2014/main" id="{F719578C-6931-BC6F-C003-B2F77E10A3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1090" y="3067050"/>
            <a:ext cx="4506772" cy="3019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058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7C98A213-5994-475E-B327-DC6EC27F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B5BE18-D889-0485-52DB-4A214EF26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656" y="979029"/>
            <a:ext cx="10909640" cy="1227408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600" b="1" dirty="0"/>
              <a:t>Null Values &amp; Duplications</a:t>
            </a:r>
            <a:br>
              <a:rPr lang="en-US" sz="3600" dirty="0">
                <a:solidFill>
                  <a:srgbClr val="BC4C14"/>
                </a:solidFill>
              </a:rPr>
            </a:br>
            <a:endParaRPr lang="en-US" sz="3600" b="1" dirty="0"/>
          </a:p>
        </p:txBody>
      </p:sp>
      <p:sp>
        <p:nvSpPr>
          <p:cNvPr id="33" name="sketch line">
            <a:extLst>
              <a:ext uri="{FF2B5EF4-FFF2-40B4-BE49-F238E27FC236}">
                <a16:creationId xmlns:a16="http://schemas.microsoft.com/office/drawing/2014/main" id="{4B030A0D-0DAD-4A99-89BB-419527D6A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1800088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A screenshot of a phone&#10;&#10;AI-generated content may be incorrect.">
            <a:extLst>
              <a:ext uri="{FF2B5EF4-FFF2-40B4-BE49-F238E27FC236}">
                <a16:creationId xmlns:a16="http://schemas.microsoft.com/office/drawing/2014/main" id="{E7FB182B-4572-2448-7E1D-FE3A76EF19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883" y="1818376"/>
            <a:ext cx="2834784" cy="4525629"/>
          </a:xfrm>
          <a:prstGeom prst="rect">
            <a:avLst/>
          </a:prstGeom>
        </p:spPr>
      </p:pic>
      <p:pic>
        <p:nvPicPr>
          <p:cNvPr id="15" name="Picture 14" descr="A screenshot of a phone&#10;&#10;AI-generated content may be incorrect.">
            <a:extLst>
              <a:ext uri="{FF2B5EF4-FFF2-40B4-BE49-F238E27FC236}">
                <a16:creationId xmlns:a16="http://schemas.microsoft.com/office/drawing/2014/main" id="{30D9451F-5ABE-1F40-0558-A23745C84F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4550" y="2501921"/>
            <a:ext cx="2689877" cy="4356079"/>
          </a:xfrm>
          <a:prstGeom prst="rect">
            <a:avLst/>
          </a:prstGeom>
        </p:spPr>
      </p:pic>
      <p:pic>
        <p:nvPicPr>
          <p:cNvPr id="17" name="Picture 16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36DB66F1-B557-AC45-535E-178063AACD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4397" y="2336081"/>
            <a:ext cx="4703306" cy="1092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28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588474-525C-CA9B-90F4-0659EC74B4A5}"/>
              </a:ext>
            </a:extLst>
          </p:cNvPr>
          <p:cNvSpPr txBox="1"/>
          <p:nvPr/>
        </p:nvSpPr>
        <p:spPr>
          <a:xfrm>
            <a:off x="638882" y="650548"/>
            <a:ext cx="10909640" cy="12493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Adding New Features</a:t>
            </a:r>
          </a:p>
        </p:txBody>
      </p:sp>
      <p:sp>
        <p:nvSpPr>
          <p:cNvPr id="30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6A68CA6-25AF-9F66-B0E9-28DC902ACA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802" y="1899942"/>
            <a:ext cx="9988062" cy="4273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0148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6906711-0AFB-47DD-A4B6-4E94B38B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A91F649-894C-41F6-A21D-3D1AC558E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DEAAEAE-99C0-0684-6609-1AC9E883F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5773" y="635531"/>
            <a:ext cx="8720454" cy="1136023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600" b="1" kern="1200" dirty="0">
                <a:ea typeface="+mj-ea"/>
                <a:cs typeface="+mj-cs"/>
              </a:rPr>
              <a:t>Descriptive Statistics</a:t>
            </a:r>
            <a:endParaRPr lang="en-US" sz="3600" kern="1200" dirty="0">
              <a:ea typeface="+mj-ea"/>
              <a:cs typeface="+mj-cs"/>
            </a:endParaRP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56037404-66BD-46B5-9323-1B5313196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1753266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3D947A01-61E6-F743-1956-CDFFE2BDDE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587" y="2855709"/>
            <a:ext cx="10736826" cy="3773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2534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1A4E5-732A-D672-D474-0CE5919C1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Zero Value !</a:t>
            </a:r>
          </a:p>
        </p:txBody>
      </p:sp>
      <p:pic>
        <p:nvPicPr>
          <p:cNvPr id="7" name="Picture 6" descr="A close up of a text&#10;&#10;AI-generated content may be incorrect.">
            <a:extLst>
              <a:ext uri="{FF2B5EF4-FFF2-40B4-BE49-F238E27FC236}">
                <a16:creationId xmlns:a16="http://schemas.microsoft.com/office/drawing/2014/main" id="{281290BB-4D14-5B5F-5A80-E7DD51E3B4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50" y="1753900"/>
            <a:ext cx="6611273" cy="914528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8642A05-D354-7455-D6A4-2D333A88D2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50" y="3231040"/>
            <a:ext cx="5029902" cy="1162212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7905D49-8D32-EB30-39E3-1679637F1F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50" y="4955864"/>
            <a:ext cx="8983329" cy="1638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1431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E40C4-958D-95DF-7171-4D55EC9C1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98DCD0C-B94F-C230-1EE1-266A426DEC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9848" y="2036606"/>
            <a:ext cx="4363059" cy="4258269"/>
          </a:xfrm>
          <a:prstGeom prst="rect">
            <a:avLst/>
          </a:prstGeom>
        </p:spPr>
      </p:pic>
      <p:pic>
        <p:nvPicPr>
          <p:cNvPr id="8" name="Picture 7" descr="A screenshot of a calculator&#10;&#10;AI-generated content may be incorrect.">
            <a:extLst>
              <a:ext uri="{FF2B5EF4-FFF2-40B4-BE49-F238E27FC236}">
                <a16:creationId xmlns:a16="http://schemas.microsoft.com/office/drawing/2014/main" id="{EFECBE7D-8D10-849C-DB2F-A6682153C0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9449" y="2543417"/>
            <a:ext cx="2172707" cy="3480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2010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CDC47F-9740-EBFF-73FE-C5B076733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995" y="919315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dirty="0"/>
              <a:t>Descriptive Statistics &amp; Frequency table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F3DE428-8338-0EE7-E3C6-7EFAD43469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9457" y="4378650"/>
            <a:ext cx="7202336" cy="2065604"/>
          </a:xfrm>
          <a:prstGeom prst="rect">
            <a:avLst/>
          </a:prstGeom>
        </p:spPr>
      </p:pic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69E633D5-B20D-198B-847D-D7EB1560DF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365" y="2147213"/>
            <a:ext cx="5583788" cy="2295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1889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588E5B-F36E-4BC8-B37C-B879912CC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656" y="569288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dirty="0"/>
              <a:t>ADHD Correlation Heatmap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6E2C00D7-586A-75C8-C8C2-58E7C6A1D2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09" y="1928758"/>
            <a:ext cx="3949172" cy="1171391"/>
          </a:xfrm>
          <a:prstGeom prst="rect">
            <a:avLst/>
          </a:prstGeom>
        </p:spPr>
      </p:pic>
      <p:pic>
        <p:nvPicPr>
          <p:cNvPr id="11" name="Picture 10" descr="A purple and yellow rectangular object with a pattern&#10;&#10;AI-generated content may be incorrect.">
            <a:extLst>
              <a:ext uri="{FF2B5EF4-FFF2-40B4-BE49-F238E27FC236}">
                <a16:creationId xmlns:a16="http://schemas.microsoft.com/office/drawing/2014/main" id="{EC3EAE41-E581-0CD9-ACCD-9ED3F79813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789" y="3219297"/>
            <a:ext cx="11817163" cy="3638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4834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28A97E-2D29-5061-3C55-951A6C78E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303" y="172383"/>
            <a:ext cx="3420358" cy="824921"/>
          </a:xfrm>
        </p:spPr>
        <p:txBody>
          <a:bodyPr anchor="ctr">
            <a:normAutofit/>
          </a:bodyPr>
          <a:lstStyle/>
          <a:p>
            <a:r>
              <a:rPr lang="en-US" sz="3200" b="1" dirty="0"/>
              <a:t>visualizations</a:t>
            </a:r>
            <a:endParaRPr lang="en-US" sz="3200" dirty="0"/>
          </a:p>
        </p:txBody>
      </p:sp>
      <p:sp>
        <p:nvSpPr>
          <p:cNvPr id="16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B2E02-6963-B781-B8AB-5505EF687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654" y="808215"/>
            <a:ext cx="5234848" cy="155448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+mj-lt"/>
              </a:rPr>
              <a:t>1- What is the age distribution of the participants, and are there any noticeable concentration patterns?</a:t>
            </a:r>
          </a:p>
          <a:p>
            <a:endParaRPr lang="en-US" sz="2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371442-2E63-2045-6040-6ECAAFF0E41B}"/>
              </a:ext>
            </a:extLst>
          </p:cNvPr>
          <p:cNvSpPr txBox="1"/>
          <p:nvPr/>
        </p:nvSpPr>
        <p:spPr>
          <a:xfrm>
            <a:off x="6213987" y="4944048"/>
            <a:ext cx="502428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LB" sz="1400" b="1" dirty="0">
                <a:solidFill>
                  <a:srgbClr val="E7601D"/>
                </a:solidFill>
                <a:latin typeface="+mj-lt"/>
              </a:rPr>
              <a:t>-</a:t>
            </a:r>
            <a:r>
              <a:rPr lang="en-US" sz="1400" b="1" dirty="0">
                <a:solidFill>
                  <a:srgbClr val="E7601D"/>
                </a:solidFill>
                <a:latin typeface="+mj-lt"/>
              </a:rPr>
              <a:t> ADHD is more commonly identified in children because their social environment makes the symptoms easier to notice .</a:t>
            </a:r>
            <a:endParaRPr lang="ar-LB" sz="1400" b="1" dirty="0">
              <a:solidFill>
                <a:srgbClr val="E7601D"/>
              </a:solidFill>
              <a:latin typeface="+mj-lt"/>
            </a:endParaRPr>
          </a:p>
          <a:p>
            <a:r>
              <a:rPr lang="ar-LB" sz="1400" b="1" dirty="0">
                <a:solidFill>
                  <a:srgbClr val="E7601D"/>
                </a:solidFill>
                <a:latin typeface="+mj-lt"/>
              </a:rPr>
              <a:t>-</a:t>
            </a:r>
            <a:r>
              <a:rPr lang="en-US" sz="1400" b="1" dirty="0">
                <a:solidFill>
                  <a:srgbClr val="E7601D"/>
                </a:solidFill>
                <a:latin typeface="+mj-lt"/>
              </a:rPr>
              <a:t> Parents and teachers observe them daily</a:t>
            </a:r>
            <a:endParaRPr lang="ar-LB" sz="1400" b="1" dirty="0">
              <a:solidFill>
                <a:srgbClr val="E7601D"/>
              </a:solidFill>
              <a:latin typeface="+mj-lt"/>
            </a:endParaRPr>
          </a:p>
          <a:p>
            <a:r>
              <a:rPr lang="en-US" sz="1400" b="1" dirty="0">
                <a:solidFill>
                  <a:srgbClr val="E7601D"/>
                </a:solidFill>
                <a:latin typeface="+mj-lt"/>
              </a:rPr>
              <a:t>most research focuses on this age group .</a:t>
            </a:r>
            <a:endParaRPr lang="ar-LB" sz="1400" b="1" dirty="0">
              <a:solidFill>
                <a:srgbClr val="E7601D"/>
              </a:solidFill>
              <a:latin typeface="+mj-lt"/>
            </a:endParaRPr>
          </a:p>
          <a:p>
            <a:r>
              <a:rPr lang="ar-LB" sz="1400" b="1" dirty="0">
                <a:solidFill>
                  <a:srgbClr val="E7601D"/>
                </a:solidFill>
                <a:latin typeface="+mj-lt"/>
              </a:rPr>
              <a:t>-</a:t>
            </a:r>
            <a:r>
              <a:rPr lang="en-US" sz="1400" b="1" dirty="0">
                <a:solidFill>
                  <a:srgbClr val="E7601D"/>
                </a:solidFill>
                <a:latin typeface="+mj-lt"/>
              </a:rPr>
              <a:t> Adults also have ADHD, but their symptoms are often less obvious .</a:t>
            </a:r>
          </a:p>
        </p:txBody>
      </p:sp>
      <p:pic>
        <p:nvPicPr>
          <p:cNvPr id="6" name="Picture 5" descr="A computer code with black and white text&#10;&#10;AI-generated content may be incorrect.">
            <a:extLst>
              <a:ext uri="{FF2B5EF4-FFF2-40B4-BE49-F238E27FC236}">
                <a16:creationId xmlns:a16="http://schemas.microsoft.com/office/drawing/2014/main" id="{22DDAA1F-85EF-926F-EF35-8C1406651E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3381" y="644652"/>
            <a:ext cx="4969419" cy="1666762"/>
          </a:xfrm>
          <a:prstGeom prst="rect">
            <a:avLst/>
          </a:prstGeom>
        </p:spPr>
      </p:pic>
      <p:pic>
        <p:nvPicPr>
          <p:cNvPr id="8" name="Picture 7" descr="A graph of a distribution of age&#10;&#10;AI-generated content may be incorrect.">
            <a:extLst>
              <a:ext uri="{FF2B5EF4-FFF2-40B4-BE49-F238E27FC236}">
                <a16:creationId xmlns:a16="http://schemas.microsoft.com/office/drawing/2014/main" id="{985DC8C4-AA8B-B534-26C9-2F2D176C5E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048" y="2638495"/>
            <a:ext cx="5316952" cy="3943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0909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E16C5A-8F9D-B5A7-7C9B-B84D13007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65" y="316176"/>
            <a:ext cx="3033899" cy="801768"/>
          </a:xfrm>
        </p:spPr>
        <p:txBody>
          <a:bodyPr anchor="ctr">
            <a:normAutofit/>
          </a:bodyPr>
          <a:lstStyle/>
          <a:p>
            <a:r>
              <a:rPr lang="en-US" sz="3200" b="1" dirty="0"/>
              <a:t>visualizations</a:t>
            </a:r>
            <a:endParaRPr lang="en-US" sz="3200" dirty="0"/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06676-2D51-4D43-30B7-F8BAB93DF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524" y="1002779"/>
            <a:ext cx="4500472" cy="1321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+mj-lt"/>
              </a:rPr>
              <a:t>2- What is the distribution of the different ADHD diagnosis classes within the dataset?</a:t>
            </a:r>
          </a:p>
          <a:p>
            <a:endParaRPr lang="en-US" sz="2200" dirty="0"/>
          </a:p>
        </p:txBody>
      </p:sp>
      <p:pic>
        <p:nvPicPr>
          <p:cNvPr id="7" name="Picture 6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8538D305-5C5C-C826-E13E-5E21777452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45" y="2640595"/>
            <a:ext cx="5544915" cy="3952173"/>
          </a:xfrm>
          <a:prstGeom prst="rect">
            <a:avLst/>
          </a:prstGeom>
        </p:spPr>
      </p:pic>
      <p:pic>
        <p:nvPicPr>
          <p:cNvPr id="5" name="Picture 4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18183979-5906-BA80-A4C8-F8ECAA4968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6124" y="773723"/>
            <a:ext cx="5712352" cy="13213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CFAD92F-69B0-3177-74EC-9282450E4418}"/>
              </a:ext>
            </a:extLst>
          </p:cNvPr>
          <p:cNvSpPr txBox="1"/>
          <p:nvPr/>
        </p:nvSpPr>
        <p:spPr>
          <a:xfrm>
            <a:off x="6011260" y="5236290"/>
            <a:ext cx="548630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400" b="1" dirty="0">
                <a:solidFill>
                  <a:srgbClr val="E7601D"/>
                </a:solidFill>
                <a:latin typeface="+mj-lt"/>
              </a:rPr>
              <a:t>- </a:t>
            </a:r>
            <a:r>
              <a:rPr lang="en-GB" sz="1400" b="1" dirty="0">
                <a:solidFill>
                  <a:srgbClr val="E7601D"/>
                </a:solidFill>
                <a:latin typeface="+mj-lt"/>
              </a:rPr>
              <a:t>The Combined Type is the most prevalent ADHD diagnosis .</a:t>
            </a:r>
            <a:endParaRPr lang="en-US" sz="1400" b="1" dirty="0">
              <a:solidFill>
                <a:srgbClr val="E7601D"/>
              </a:solidFill>
              <a:latin typeface="+mj-lt"/>
            </a:endParaRPr>
          </a:p>
          <a:p>
            <a:pPr lvl="0"/>
            <a:r>
              <a:rPr lang="en-GB" sz="1400" b="1" dirty="0">
                <a:solidFill>
                  <a:srgbClr val="E7601D"/>
                </a:solidFill>
                <a:latin typeface="+mj-lt"/>
              </a:rPr>
              <a:t>- Both the Hyperactive-Impulsive &amp; Inattentive types appear equally common .</a:t>
            </a:r>
            <a:endParaRPr lang="en-US" sz="1400" b="1" dirty="0">
              <a:solidFill>
                <a:srgbClr val="E7601D"/>
              </a:solidFill>
              <a:latin typeface="+mj-lt"/>
            </a:endParaRPr>
          </a:p>
          <a:p>
            <a:pPr lvl="0"/>
            <a:r>
              <a:rPr lang="en-GB" sz="1400" b="1" dirty="0">
                <a:solidFill>
                  <a:srgbClr val="E7601D"/>
                </a:solidFill>
                <a:latin typeface="+mj-lt"/>
              </a:rPr>
              <a:t>- A substantial number of participants show no ADHD symptoms, allowing balanced comparative analysis .</a:t>
            </a:r>
            <a:endParaRPr lang="en-US" sz="1400" b="1" dirty="0">
              <a:solidFill>
                <a:srgbClr val="E7601D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703927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95D411-F0B0-DCC0-F7D7-9E9FD0795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679" y="286378"/>
            <a:ext cx="3394635" cy="989763"/>
          </a:xfrm>
        </p:spPr>
        <p:txBody>
          <a:bodyPr anchor="ctr">
            <a:normAutofit/>
          </a:bodyPr>
          <a:lstStyle/>
          <a:p>
            <a:r>
              <a:rPr lang="en-US" sz="3200" b="1" dirty="0"/>
              <a:t>visualization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6B9A6-A6CA-ADD8-679D-C87D8FF6C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679" y="781258"/>
            <a:ext cx="4497040" cy="113556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dirty="0"/>
              <a:t>- The percentage of the 3 Classes of ADHD that have learning difficulties?</a:t>
            </a:r>
          </a:p>
        </p:txBody>
      </p:sp>
      <p:pic>
        <p:nvPicPr>
          <p:cNvPr id="4" name="Picture 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9F7674B1-8123-CB88-AA01-69B8DCBC0A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207" y="3193554"/>
            <a:ext cx="5697726" cy="3019794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5DCD883-564E-E8FC-5187-5EA924316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591" y="781258"/>
            <a:ext cx="6225695" cy="19029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2BEC3E-551B-0E8D-BF4A-58BF60D7B2FF}"/>
              </a:ext>
            </a:extLst>
          </p:cNvPr>
          <p:cNvSpPr txBox="1"/>
          <p:nvPr/>
        </p:nvSpPr>
        <p:spPr>
          <a:xfrm>
            <a:off x="6706194" y="5043797"/>
            <a:ext cx="494503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E7601D"/>
                </a:solidFill>
                <a:latin typeface="+mj-lt"/>
              </a:rPr>
              <a:t>- The 65.61% rate is extremely high, indicating a strong association between ADHD and learning difficulties.</a:t>
            </a:r>
            <a:br>
              <a:rPr lang="en-US" sz="1400" b="1" dirty="0">
                <a:solidFill>
                  <a:srgbClr val="E7601D"/>
                </a:solidFill>
                <a:latin typeface="+mj-lt"/>
              </a:rPr>
            </a:br>
            <a:r>
              <a:rPr lang="en-US" sz="1400" b="1" dirty="0">
                <a:solidFill>
                  <a:srgbClr val="E7601D"/>
                </a:solidFill>
                <a:latin typeface="+mj-lt"/>
              </a:rPr>
              <a:t>- This can be explained by attention problems, organizational challenges, and hyperactivity, all of which directly impact learning performance.</a:t>
            </a:r>
            <a:endParaRPr lang="en-US" sz="1400" dirty="0">
              <a:solidFill>
                <a:srgbClr val="E7601D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079467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31A28-51CA-3443-D045-6D4668A8B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574" y="250458"/>
            <a:ext cx="2966884" cy="1001451"/>
          </a:xfrm>
        </p:spPr>
        <p:txBody>
          <a:bodyPr>
            <a:normAutofit/>
          </a:bodyPr>
          <a:lstStyle/>
          <a:p>
            <a:r>
              <a:rPr lang="en-US" sz="3200" b="1" dirty="0"/>
              <a:t>visualization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C3395-CAD5-7C2D-4F99-59FCCDE70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561" y="1063233"/>
            <a:ext cx="4471219" cy="89791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3200" b="1" dirty="0"/>
              <a:t>3- What is the prevalence of learning difficulties among individuals diagnosed with the three ADHD subtypes?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39D8F4-EC61-6E1D-B11D-A070F6240D6E}"/>
              </a:ext>
            </a:extLst>
          </p:cNvPr>
          <p:cNvSpPr txBox="1"/>
          <p:nvPr/>
        </p:nvSpPr>
        <p:spPr>
          <a:xfrm>
            <a:off x="5866498" y="5229017"/>
            <a:ext cx="60378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E7601D"/>
                </a:solidFill>
                <a:latin typeface="+mj-lt"/>
              </a:rPr>
              <a:t>- Combined &amp; Hyperactive-Impulsive types → ≈77% have learning difficulties .</a:t>
            </a:r>
          </a:p>
          <a:p>
            <a:r>
              <a:rPr lang="en-US" sz="1400" b="1" dirty="0">
                <a:solidFill>
                  <a:srgbClr val="E7601D"/>
                </a:solidFill>
                <a:latin typeface="+mj-lt"/>
              </a:rPr>
              <a:t>- Inattentive type → ≈25% only .</a:t>
            </a:r>
          </a:p>
          <a:p>
            <a:r>
              <a:rPr lang="en-US" sz="1400" b="1" dirty="0">
                <a:solidFill>
                  <a:srgbClr val="E7601D"/>
                </a:solidFill>
                <a:latin typeface="+mj-lt"/>
              </a:rPr>
              <a:t>- ADHD subtype strongly affects learning difficulty levels .</a:t>
            </a:r>
          </a:p>
          <a:p>
            <a:r>
              <a:rPr lang="en-US" sz="1400" b="1" dirty="0">
                <a:solidFill>
                  <a:srgbClr val="E7601D"/>
                </a:solidFill>
                <a:latin typeface="+mj-lt"/>
              </a:rPr>
              <a:t>- Important for educators to recognize subtype differences .</a:t>
            </a:r>
          </a:p>
        </p:txBody>
      </p:sp>
      <p:pic>
        <p:nvPicPr>
          <p:cNvPr id="5" name="Picture 4" descr="A graph of different colored rectangular shapes&#10;&#10;AI-generated content may be incorrect.">
            <a:extLst>
              <a:ext uri="{FF2B5EF4-FFF2-40B4-BE49-F238E27FC236}">
                <a16:creationId xmlns:a16="http://schemas.microsoft.com/office/drawing/2014/main" id="{229AE13B-103C-6D42-C534-7A8C42F6CE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380" y="2587656"/>
            <a:ext cx="5021826" cy="4019886"/>
          </a:xfrm>
          <a:prstGeom prst="rect">
            <a:avLst/>
          </a:prstGeom>
        </p:spPr>
      </p:pic>
      <p:pic>
        <p:nvPicPr>
          <p:cNvPr id="16" name="Picture 15" descr="A computer code with text&#10;&#10;AI-generated content may be incorrect.">
            <a:extLst>
              <a:ext uri="{FF2B5EF4-FFF2-40B4-BE49-F238E27FC236}">
                <a16:creationId xmlns:a16="http://schemas.microsoft.com/office/drawing/2014/main" id="{23B3749B-C9E6-D88E-21B6-8FF5DBD44A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4958" y="440902"/>
            <a:ext cx="6368022" cy="1791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9121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B027A-0548-FBA8-0073-11E566D9E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71" y="352150"/>
            <a:ext cx="3024352" cy="686927"/>
          </a:xfrm>
        </p:spPr>
        <p:txBody>
          <a:bodyPr>
            <a:normAutofit/>
          </a:bodyPr>
          <a:lstStyle/>
          <a:p>
            <a:r>
              <a:rPr lang="en-US" sz="3200" b="1" dirty="0"/>
              <a:t>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DBC2B-CF91-B680-9A3A-F477049188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071" y="940754"/>
            <a:ext cx="4431890" cy="10913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+mj-lt"/>
              </a:rPr>
              <a:t>4- How do task-organization difficulties vary among the different ADHD subtypes?</a:t>
            </a:r>
            <a:endParaRPr lang="ar-LB" sz="2000" b="1" dirty="0">
              <a:latin typeface="+mj-lt"/>
            </a:endParaRPr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48BBC16-BA46-5F18-A4EF-5C53EFA036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4220" y="695614"/>
            <a:ext cx="5965722" cy="2271042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FBCDCE7-9DD1-426D-5A5F-FAC4DBCC54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95" y="3676940"/>
            <a:ext cx="6168717" cy="26317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88E2C8F-8EE9-4A89-0FC4-07AF36F3273A}"/>
              </a:ext>
            </a:extLst>
          </p:cNvPr>
          <p:cNvSpPr txBox="1"/>
          <p:nvPr/>
        </p:nvSpPr>
        <p:spPr>
          <a:xfrm>
            <a:off x="6617110" y="4992835"/>
            <a:ext cx="543723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400" b="1" dirty="0">
                <a:solidFill>
                  <a:srgbClr val="E7601D"/>
                </a:solidFill>
                <a:latin typeface="+mj-lt"/>
              </a:rPr>
              <a:t>- The results indicate sharp differences among the three ADHD subtypes: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E7601D"/>
                </a:solidFill>
                <a:latin typeface="+mj-lt"/>
              </a:rPr>
              <a:t>Combined type — 100% have difficulty organizing tasks 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E7601D"/>
                </a:solidFill>
                <a:latin typeface="+mj-lt"/>
              </a:rPr>
              <a:t>Hyperactive-Impulsive type — 100% have difficulty organizing tasks 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E7601D"/>
                </a:solidFill>
                <a:latin typeface="+mj-lt"/>
              </a:rPr>
              <a:t>Inattentive type — only 31% have difficulty organizing tasks .</a:t>
            </a:r>
          </a:p>
        </p:txBody>
      </p:sp>
    </p:spTree>
    <p:extLst>
      <p:ext uri="{BB962C8B-B14F-4D97-AF65-F5344CB8AC3E}">
        <p14:creationId xmlns:p14="http://schemas.microsoft.com/office/powerpoint/2010/main" val="41091386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59D30F-2800-3797-BFF2-64E584FE8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534" y="193046"/>
            <a:ext cx="2795552" cy="1019908"/>
          </a:xfrm>
        </p:spPr>
        <p:txBody>
          <a:bodyPr anchor="ctr">
            <a:normAutofit/>
          </a:bodyPr>
          <a:lstStyle/>
          <a:p>
            <a:r>
              <a:rPr lang="en-US" sz="3200" b="1" dirty="0"/>
              <a:t>visualizations</a:t>
            </a:r>
            <a:endParaRPr lang="en-US" sz="3200" dirty="0"/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9582C-512B-6B38-5C59-E862580EA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604" y="925385"/>
            <a:ext cx="4930910" cy="163707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dirty="0"/>
              <a:t>5- How are sleep hours distributed among participants &amp; </a:t>
            </a:r>
            <a:r>
              <a:rPr lang="en-US" sz="2000" b="1" dirty="0">
                <a:latin typeface="+mj-lt"/>
              </a:rPr>
              <a:t>are there differences in average sleep hours between males and females?</a:t>
            </a:r>
          </a:p>
          <a:p>
            <a:endParaRPr lang="en-US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19B922-87EB-0866-CF3E-1785D4158438}"/>
              </a:ext>
            </a:extLst>
          </p:cNvPr>
          <p:cNvSpPr txBox="1"/>
          <p:nvPr/>
        </p:nvSpPr>
        <p:spPr>
          <a:xfrm>
            <a:off x="6013122" y="5208274"/>
            <a:ext cx="565446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LB" sz="1400" b="1" dirty="0">
                <a:solidFill>
                  <a:srgbClr val="E7601D"/>
                </a:solidFill>
              </a:rPr>
              <a:t>-</a:t>
            </a:r>
            <a:r>
              <a:rPr lang="en-US" sz="1400" b="1" dirty="0">
                <a:solidFill>
                  <a:srgbClr val="E7601D"/>
                </a:solidFill>
              </a:rPr>
              <a:t> Most participants sleep between 6 and 10 hours .</a:t>
            </a:r>
            <a:endParaRPr lang="ar-LB" sz="1400" b="1" dirty="0">
              <a:solidFill>
                <a:srgbClr val="E7601D"/>
              </a:solidFill>
            </a:endParaRPr>
          </a:p>
          <a:p>
            <a:r>
              <a:rPr lang="en-GB" sz="1400" b="1" dirty="0">
                <a:solidFill>
                  <a:srgbClr val="E7601D"/>
                </a:solidFill>
              </a:rPr>
              <a:t>- Comparing sleep hours between genders revealed that males tend to sleep slightly more hours on average than females .</a:t>
            </a:r>
            <a:br>
              <a:rPr lang="en-GB" sz="1400" b="1" dirty="0">
                <a:solidFill>
                  <a:srgbClr val="E7601D"/>
                </a:solidFill>
              </a:rPr>
            </a:br>
            <a:r>
              <a:rPr lang="en-GB" sz="1400" b="1" dirty="0">
                <a:solidFill>
                  <a:srgbClr val="E7601D"/>
                </a:solidFill>
              </a:rPr>
              <a:t>- This difference may suggest behavioural or lifestyle variations between the two groups .</a:t>
            </a:r>
            <a:endParaRPr lang="en-US" sz="1400" b="1" dirty="0">
              <a:solidFill>
                <a:srgbClr val="E7601D"/>
              </a:solidFill>
            </a:endParaRPr>
          </a:p>
        </p:txBody>
      </p:sp>
      <p:pic>
        <p:nvPicPr>
          <p:cNvPr id="7" name="Picture 6" descr="A white background with red and blue text&#10;&#10;AI-generated content may be incorrect.">
            <a:extLst>
              <a:ext uri="{FF2B5EF4-FFF2-40B4-BE49-F238E27FC236}">
                <a16:creationId xmlns:a16="http://schemas.microsoft.com/office/drawing/2014/main" id="{77A9B5FF-1D90-2324-E07A-9AF8159024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0184" y="702999"/>
            <a:ext cx="5745304" cy="1637077"/>
          </a:xfrm>
          <a:prstGeom prst="rect">
            <a:avLst/>
          </a:prstGeom>
        </p:spPr>
      </p:pic>
      <p:pic>
        <p:nvPicPr>
          <p:cNvPr id="10" name="Picture 9" descr="A graph of sleep hours distribution&#10;&#10;AI-generated content may be incorrect.">
            <a:extLst>
              <a:ext uri="{FF2B5EF4-FFF2-40B4-BE49-F238E27FC236}">
                <a16:creationId xmlns:a16="http://schemas.microsoft.com/office/drawing/2014/main" id="{5DA508CC-0A23-A333-0573-A5BF1E50A5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412" y="2620809"/>
            <a:ext cx="5386610" cy="3850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6061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E2F294-7AC5-D11D-8877-0B7192FED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450" y="143185"/>
            <a:ext cx="3251345" cy="1130440"/>
          </a:xfrm>
        </p:spPr>
        <p:txBody>
          <a:bodyPr anchor="ctr">
            <a:normAutofit/>
          </a:bodyPr>
          <a:lstStyle/>
          <a:p>
            <a:r>
              <a:rPr lang="en-US" sz="3200" b="1" dirty="0"/>
              <a:t>visualizations</a:t>
            </a:r>
            <a:endParaRPr lang="en-US" sz="3200" dirty="0"/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B3F31-4CE5-A821-C131-D62EBE0F7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435" y="772158"/>
            <a:ext cx="4989732" cy="127111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+mj-lt"/>
              </a:rPr>
              <a:t>6- Does the focus score during video-watching differ across the ADHD diagnosis classes?</a:t>
            </a:r>
          </a:p>
        </p:txBody>
      </p:sp>
      <p:pic>
        <p:nvPicPr>
          <p:cNvPr id="5" name="Picture 4" descr="A computer code with text&#10;&#10;AI-generated content may be incorrect.">
            <a:extLst>
              <a:ext uri="{FF2B5EF4-FFF2-40B4-BE49-F238E27FC236}">
                <a16:creationId xmlns:a16="http://schemas.microsoft.com/office/drawing/2014/main" id="{95058CAB-B4AD-8F3D-6D6A-7ABCBE0FBA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476" y="644652"/>
            <a:ext cx="5459804" cy="18037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AA99F9-2B58-3EEB-D9E2-690BB841323F}"/>
              </a:ext>
            </a:extLst>
          </p:cNvPr>
          <p:cNvSpPr txBox="1"/>
          <p:nvPr/>
        </p:nvSpPr>
        <p:spPr>
          <a:xfrm>
            <a:off x="6094476" y="5505856"/>
            <a:ext cx="515045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E7601D"/>
                </a:solidFill>
                <a:latin typeface="+mj-lt"/>
              </a:rPr>
              <a:t>-From the chart, it is clear that lower concentration levels are associated with higher diagnosis scores, which supports the hypothesis that the symptoms of ADHD negatively affect concentration .</a:t>
            </a:r>
          </a:p>
        </p:txBody>
      </p:sp>
      <p:pic>
        <p:nvPicPr>
          <p:cNvPr id="6" name="Picture 5" descr="A diagram of a diagram&#10;&#10;AI-generated content may be incorrect.">
            <a:extLst>
              <a:ext uri="{FF2B5EF4-FFF2-40B4-BE49-F238E27FC236}">
                <a16:creationId xmlns:a16="http://schemas.microsoft.com/office/drawing/2014/main" id="{D8F84FFD-0188-88F8-9CC7-C1AE0D29E1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257" y="2631214"/>
            <a:ext cx="5262915" cy="3958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457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B0A0E5-027D-8C17-E5ED-CA62939DC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4969" y="968557"/>
            <a:ext cx="3079009" cy="93952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dirty="0"/>
              <a:t>Continue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screenshot of a diagram&#10;&#10;AI-generated content may be incorrect.">
            <a:extLst>
              <a:ext uri="{FF2B5EF4-FFF2-40B4-BE49-F238E27FC236}">
                <a16:creationId xmlns:a16="http://schemas.microsoft.com/office/drawing/2014/main" id="{4D6C0F79-66E9-9773-847D-5F178A50D1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72" y="2107261"/>
            <a:ext cx="5924539" cy="3782182"/>
          </a:xfrm>
          <a:prstGeom prst="rect">
            <a:avLst/>
          </a:prstGeom>
        </p:spPr>
      </p:pic>
      <p:pic>
        <p:nvPicPr>
          <p:cNvPr id="11" name="Picture 10" descr="A screenshot of a graph&#10;&#10;AI-generated content may be incorrect.">
            <a:extLst>
              <a:ext uri="{FF2B5EF4-FFF2-40B4-BE49-F238E27FC236}">
                <a16:creationId xmlns:a16="http://schemas.microsoft.com/office/drawing/2014/main" id="{5648119D-4989-E567-49D2-EC901CFA7A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107260"/>
            <a:ext cx="5979964" cy="389240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D78537F-BF9D-DCC9-48B7-860E80F1346E}"/>
              </a:ext>
            </a:extLst>
          </p:cNvPr>
          <p:cNvSpPr txBox="1"/>
          <p:nvPr/>
        </p:nvSpPr>
        <p:spPr>
          <a:xfrm>
            <a:off x="3311610" y="6038769"/>
            <a:ext cx="5568779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E7601D"/>
                </a:solidFill>
                <a:latin typeface="+mj-lt"/>
              </a:rPr>
              <a:t>- Higher diagnosis classes show lower focus scores, indicating reduced attention and concentration level, </a:t>
            </a:r>
            <a:r>
              <a:rPr lang="en-US" sz="1400" b="1" dirty="0">
                <a:solidFill>
                  <a:srgbClr val="E7601D"/>
                </a:solidFill>
                <a:latin typeface="+mj-lt"/>
              </a:rPr>
              <a:t>and vice versa 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925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FCE868-30A8-0F7C-E556-FA407C933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656" y="661195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dirty="0"/>
              <a:t>Check The Outliers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87E6538-796F-A4BE-779A-057A8A0C9C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929" y="2013968"/>
            <a:ext cx="6141804" cy="2410658"/>
          </a:xfrm>
          <a:prstGeom prst="rect">
            <a:avLst/>
          </a:prstGeom>
        </p:spPr>
      </p:pic>
      <p:pic>
        <p:nvPicPr>
          <p:cNvPr id="8" name="Picture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9E15BA4-4D4F-430B-3B3F-58C81507F3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5715" y="4255432"/>
            <a:ext cx="5827356" cy="238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3858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04DCD-AD6E-A9DF-F3CB-A05C12AAB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with a bar and text&#10;&#10;AI-generated content may be incorrect.">
            <a:extLst>
              <a:ext uri="{FF2B5EF4-FFF2-40B4-BE49-F238E27FC236}">
                <a16:creationId xmlns:a16="http://schemas.microsoft.com/office/drawing/2014/main" id="{97D45713-4DD3-BACC-A8BA-EC1C2371EA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974" y="1863352"/>
            <a:ext cx="3942735" cy="47334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199246-B58B-B041-8F21-CF4223E72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982" y="261149"/>
            <a:ext cx="4714127" cy="75045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b="1" kern="1200" dirty="0">
                <a:latin typeface="+mj-lt"/>
                <a:ea typeface="+mj-ea"/>
                <a:cs typeface="+mj-cs"/>
              </a:rPr>
              <a:t>visualizations</a:t>
            </a:r>
            <a:endParaRPr lang="en-US" sz="3200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C9B5D-DB06-F252-A30C-E44B27376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239" y="1011600"/>
            <a:ext cx="7731032" cy="151564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+mj-lt"/>
              </a:rPr>
              <a:t>7</a:t>
            </a:r>
            <a:r>
              <a:rPr lang="en-US" sz="2000" b="1" kern="1200" dirty="0">
                <a:latin typeface="+mj-lt"/>
                <a:ea typeface="+mn-ea"/>
                <a:cs typeface="+mn-cs"/>
              </a:rPr>
              <a:t>- Does having a family history of ADHD influence the diagnosis class of the individual?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A084D8-FB2C-9269-AC1D-1B805B5B3A97}"/>
              </a:ext>
            </a:extLst>
          </p:cNvPr>
          <p:cNvSpPr txBox="1"/>
          <p:nvPr/>
        </p:nvSpPr>
        <p:spPr>
          <a:xfrm>
            <a:off x="5429526" y="5432077"/>
            <a:ext cx="624136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E7601D"/>
                </a:solidFill>
                <a:latin typeface="+mj-lt"/>
              </a:rPr>
              <a:t>- Most participants reported no family history . </a:t>
            </a:r>
          </a:p>
          <a:p>
            <a:r>
              <a:rPr lang="en-GB" sz="1400" b="1" dirty="0">
                <a:solidFill>
                  <a:srgbClr val="E7601D"/>
                </a:solidFill>
                <a:latin typeface="+mj-lt"/>
              </a:rPr>
              <a:t>- Participants who do have a family history of ADHD represent a smaller portion .</a:t>
            </a:r>
          </a:p>
          <a:p>
            <a:r>
              <a:rPr lang="en-GB" sz="1400" b="1" dirty="0">
                <a:solidFill>
                  <a:srgbClr val="E7601D"/>
                </a:solidFill>
                <a:latin typeface="+mj-lt"/>
              </a:rPr>
              <a:t>- A very small group reported unknown status .</a:t>
            </a:r>
            <a:br>
              <a:rPr lang="en-GB" sz="1400" b="1" dirty="0">
                <a:solidFill>
                  <a:srgbClr val="E7601D"/>
                </a:solidFill>
                <a:latin typeface="+mj-lt"/>
              </a:rPr>
            </a:br>
            <a:r>
              <a:rPr lang="en-GB" sz="1400" b="1" dirty="0">
                <a:solidFill>
                  <a:srgbClr val="E7601D"/>
                </a:solidFill>
                <a:latin typeface="+mj-lt"/>
              </a:rPr>
              <a:t>- </a:t>
            </a:r>
            <a:r>
              <a:rPr lang="en-US" sz="1400" b="1" dirty="0">
                <a:solidFill>
                  <a:srgbClr val="E7601D"/>
                </a:solidFill>
                <a:latin typeface="+mj-lt"/>
              </a:rPr>
              <a:t>Environmental or behavioral factors could play an important role alongside genetic factors .</a:t>
            </a:r>
          </a:p>
        </p:txBody>
      </p:sp>
    </p:spTree>
    <p:extLst>
      <p:ext uri="{BB962C8B-B14F-4D97-AF65-F5344CB8AC3E}">
        <p14:creationId xmlns:p14="http://schemas.microsoft.com/office/powerpoint/2010/main" val="32776847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ABA5E-77CB-C66F-EFB6-CE65777D4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62" y="197012"/>
            <a:ext cx="2691581" cy="932733"/>
          </a:xfrm>
        </p:spPr>
        <p:txBody>
          <a:bodyPr>
            <a:normAutofit/>
          </a:bodyPr>
          <a:lstStyle/>
          <a:p>
            <a:r>
              <a:rPr lang="en-US" sz="3200" b="1" dirty="0"/>
              <a:t>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08EA5-044D-BA1E-4732-A9C24B905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0" y="1023119"/>
            <a:ext cx="9549852" cy="8290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+mj-lt"/>
              </a:rPr>
              <a:t>8- How does daily activity level vary across different anxiety severity categories?"</a:t>
            </a:r>
            <a:endParaRPr lang="en-US" sz="2000" dirty="0">
              <a:latin typeface="+mj-lt"/>
            </a:endParaRPr>
          </a:p>
        </p:txBody>
      </p:sp>
      <p:pic>
        <p:nvPicPr>
          <p:cNvPr id="7" name="Picture 6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460E1010-FC15-51C6-DD68-B402B5B88B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9508" y="1745578"/>
            <a:ext cx="3252289" cy="49154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5178F77-C8D7-D18D-4A8C-007DDA75E793}"/>
              </a:ext>
            </a:extLst>
          </p:cNvPr>
          <p:cNvSpPr txBox="1"/>
          <p:nvPr/>
        </p:nvSpPr>
        <p:spPr>
          <a:xfrm>
            <a:off x="5938683" y="5149040"/>
            <a:ext cx="601734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E7601D"/>
                </a:solidFill>
                <a:latin typeface="+mj-lt"/>
              </a:rPr>
              <a:t>- No Anxiety: Highest activity.</a:t>
            </a:r>
          </a:p>
          <a:p>
            <a:r>
              <a:rPr lang="en-US" sz="1400" b="1" dirty="0">
                <a:solidFill>
                  <a:srgbClr val="E7601D"/>
                </a:solidFill>
                <a:latin typeface="+mj-lt"/>
              </a:rPr>
              <a:t>- Mild Anxiety: Slightly lower activity.</a:t>
            </a:r>
          </a:p>
          <a:p>
            <a:r>
              <a:rPr lang="en-US" sz="1400" b="1" dirty="0">
                <a:solidFill>
                  <a:srgbClr val="E7601D"/>
                </a:solidFill>
                <a:latin typeface="+mj-lt"/>
              </a:rPr>
              <a:t>- Moderate Anxiety: Sharp drop .</a:t>
            </a:r>
          </a:p>
          <a:p>
            <a:r>
              <a:rPr lang="en-US" sz="1400" b="1" dirty="0">
                <a:solidFill>
                  <a:srgbClr val="E7601D"/>
                </a:solidFill>
                <a:latin typeface="+mj-lt"/>
              </a:rPr>
              <a:t>- Severe Anxiety: Lowest activity.</a:t>
            </a:r>
          </a:p>
          <a:p>
            <a:r>
              <a:rPr lang="en-US" sz="1400" b="1" dirty="0">
                <a:solidFill>
                  <a:srgbClr val="E7601D"/>
                </a:solidFill>
                <a:latin typeface="+mj-lt"/>
              </a:rPr>
              <a:t>- The trend suggests a strong negative association between anxiety severity and daily activity levels</a:t>
            </a:r>
            <a:endParaRPr lang="ar-LB" sz="1400" b="1" dirty="0">
              <a:solidFill>
                <a:srgbClr val="E7601D"/>
              </a:solidFill>
              <a:latin typeface="+mj-lt"/>
            </a:endParaRPr>
          </a:p>
          <a:p>
            <a:endParaRPr lang="en-US" sz="1400" b="1" dirty="0">
              <a:solidFill>
                <a:srgbClr val="E7601D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579296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0E53C-74F0-9E67-3E74-BADE2F7D7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77D02-4F0E-BB54-394C-CC066DBC2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519" y="668869"/>
            <a:ext cx="5682025" cy="2011552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/>
              <a:t>9- Is there agreement between the self-assessment (Q1) and the observer assessment (Q2), or are there noticeable differences?</a:t>
            </a:r>
            <a:br>
              <a:rPr lang="en-US" sz="2000" b="1" dirty="0"/>
            </a:br>
            <a:br>
              <a:rPr lang="en-US" sz="2000" dirty="0"/>
            </a:br>
            <a:endParaRPr lang="en-US" sz="2000" dirty="0"/>
          </a:p>
        </p:txBody>
      </p:sp>
      <p:pic>
        <p:nvPicPr>
          <p:cNvPr id="7" name="Picture 6" descr="A graph with green dots&#10;&#10;AI-generated content may be incorrect.">
            <a:extLst>
              <a:ext uri="{FF2B5EF4-FFF2-40B4-BE49-F238E27FC236}">
                <a16:creationId xmlns:a16="http://schemas.microsoft.com/office/drawing/2014/main" id="{F578826B-0DC3-3040-9340-94FB492B44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674" y="2428569"/>
            <a:ext cx="5682025" cy="4058766"/>
          </a:xfrm>
          <a:prstGeom prst="rect">
            <a:avLst/>
          </a:prstGeom>
        </p:spPr>
      </p:pic>
      <p:pic>
        <p:nvPicPr>
          <p:cNvPr id="5" name="Picture 4" descr="A white background with red text&#10;&#10;AI-generated content may be incorrect.">
            <a:extLst>
              <a:ext uri="{FF2B5EF4-FFF2-40B4-BE49-F238E27FC236}">
                <a16:creationId xmlns:a16="http://schemas.microsoft.com/office/drawing/2014/main" id="{6ED65797-28D9-33BC-7BD4-372A903D61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8095" y="668869"/>
            <a:ext cx="5332386" cy="13849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3C50BFC-C1D6-6A99-5ACD-EA8366A707A5}"/>
              </a:ext>
            </a:extLst>
          </p:cNvPr>
          <p:cNvSpPr txBox="1"/>
          <p:nvPr/>
        </p:nvSpPr>
        <p:spPr>
          <a:xfrm>
            <a:off x="6442217" y="5010318"/>
            <a:ext cx="553347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E7601D"/>
                </a:solidFill>
                <a:latin typeface="+mj-lt"/>
              </a:rPr>
              <a:t>-The plot shows moderate agreement between self-reported and observer-reported ADHD symptoms .</a:t>
            </a:r>
          </a:p>
          <a:p>
            <a:r>
              <a:rPr lang="en-US" sz="1400" b="1" dirty="0">
                <a:solidFill>
                  <a:srgbClr val="E7601D"/>
                </a:solidFill>
                <a:latin typeface="+mj-lt"/>
              </a:rPr>
              <a:t>-The four clusters highlight meaningful differences in perception .</a:t>
            </a:r>
          </a:p>
          <a:p>
            <a:r>
              <a:rPr lang="en-US" sz="1400" b="1" dirty="0">
                <a:solidFill>
                  <a:srgbClr val="E7601D"/>
                </a:solidFill>
                <a:latin typeface="+mj-lt"/>
              </a:rPr>
              <a:t>-Indicating that self-awareness does not always align perfectly with external observation 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CF5D18-8C1F-866D-7476-B62E0C20A7E1}"/>
              </a:ext>
            </a:extLst>
          </p:cNvPr>
          <p:cNvSpPr txBox="1"/>
          <p:nvPr/>
        </p:nvSpPr>
        <p:spPr>
          <a:xfrm>
            <a:off x="411519" y="260264"/>
            <a:ext cx="28611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+mj-lt"/>
              </a:rPr>
              <a:t>visualizations</a:t>
            </a:r>
            <a:endParaRPr lang="en-US" sz="3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91962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59AB4C8-9178-4F7A-8404-6890510B5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9046EA-B74E-D5CB-E391-07118A18D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1254969"/>
            <a:ext cx="10909640" cy="70794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Dropping</a:t>
            </a:r>
          </a:p>
        </p:txBody>
      </p:sp>
      <p:sp>
        <p:nvSpPr>
          <p:cNvPr id="8" name="sketch line">
            <a:extLst>
              <a:ext uri="{FF2B5EF4-FFF2-40B4-BE49-F238E27FC236}">
                <a16:creationId xmlns:a16="http://schemas.microsoft.com/office/drawing/2014/main" id="{4CFDFB37-4BC7-42C6-915D-A6609139B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E112DCBA-1C18-A26D-FC72-73AC4762B6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7962" y="2829232"/>
            <a:ext cx="5976076" cy="2512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518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8847F4-D917-E1C3-6373-5214B7BE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Main Findings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34D90-AD9B-2D93-1394-60AA1D65C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036" y="1922390"/>
            <a:ext cx="11316928" cy="4698934"/>
          </a:xfrm>
        </p:spPr>
        <p:txBody>
          <a:bodyPr>
            <a:noAutofit/>
          </a:bodyPr>
          <a:lstStyle/>
          <a:p>
            <a:r>
              <a:rPr lang="en-US" sz="2000" b="1" dirty="0">
                <a:latin typeface="+mj-lt"/>
              </a:rPr>
              <a:t>Age:</a:t>
            </a:r>
            <a:r>
              <a:rPr lang="en-US" sz="2000" dirty="0">
                <a:latin typeface="+mj-lt"/>
              </a:rPr>
              <a:t> Most participants are students between 3-18 .</a:t>
            </a:r>
          </a:p>
          <a:p>
            <a:r>
              <a:rPr lang="en-US" sz="2000" b="1" dirty="0">
                <a:latin typeface="+mj-lt"/>
              </a:rPr>
              <a:t>ADHD Types:</a:t>
            </a:r>
            <a:r>
              <a:rPr lang="en-US" sz="2000" dirty="0">
                <a:latin typeface="+mj-lt"/>
              </a:rPr>
              <a:t> The Combined Type is the most prevalent among participants .</a:t>
            </a:r>
          </a:p>
          <a:p>
            <a:r>
              <a:rPr lang="en-US" sz="2000" b="1" dirty="0">
                <a:latin typeface="+mj-lt"/>
              </a:rPr>
              <a:t>Learning Difficulties:</a:t>
            </a:r>
            <a:r>
              <a:rPr lang="en-US" sz="2000" dirty="0">
                <a:latin typeface="+mj-lt"/>
              </a:rPr>
              <a:t> Highest rates appeared in the Combined and Hyperactive-Impulsive types (≈77%) .</a:t>
            </a:r>
          </a:p>
          <a:p>
            <a:r>
              <a:rPr lang="en-US" sz="2000" b="1" dirty="0">
                <a:latin typeface="+mj-lt"/>
              </a:rPr>
              <a:t>Task-Organization Difficulties</a:t>
            </a:r>
            <a:r>
              <a:rPr lang="en-US" sz="2000" dirty="0">
                <a:latin typeface="+mj-lt"/>
              </a:rPr>
              <a:t>: Reached 100% in the same two types, indicating significant executive function challenges .</a:t>
            </a:r>
          </a:p>
          <a:p>
            <a:r>
              <a:rPr lang="en-US" sz="2000" b="1" dirty="0">
                <a:latin typeface="+mj-lt"/>
              </a:rPr>
              <a:t>Gender &amp; Sleep:</a:t>
            </a:r>
            <a:r>
              <a:rPr lang="en-US" sz="2000" dirty="0">
                <a:latin typeface="+mj-lt"/>
              </a:rPr>
              <a:t> Minor differences between males and females, but the overall pattern is similar .</a:t>
            </a:r>
          </a:p>
          <a:p>
            <a:r>
              <a:rPr lang="en-US" sz="2000" b="1" dirty="0">
                <a:latin typeface="+mj-lt"/>
              </a:rPr>
              <a:t>Focus Score:</a:t>
            </a:r>
            <a:r>
              <a:rPr lang="en-US" sz="2000" dirty="0">
                <a:latin typeface="+mj-lt"/>
              </a:rPr>
              <a:t> Clear differences in video-watching focus across diagnosis types .</a:t>
            </a:r>
          </a:p>
          <a:p>
            <a:r>
              <a:rPr lang="en-US" sz="2000" b="1" dirty="0">
                <a:latin typeface="+mj-lt"/>
              </a:rPr>
              <a:t>Family History:</a:t>
            </a:r>
            <a:r>
              <a:rPr lang="en-US" sz="2000" dirty="0">
                <a:latin typeface="+mj-lt"/>
              </a:rPr>
              <a:t> Having a family history increases the likelihood of an ADHD diagnosis .</a:t>
            </a:r>
          </a:p>
          <a:p>
            <a:r>
              <a:rPr lang="en-US" sz="2000" b="1" dirty="0">
                <a:latin typeface="+mj-lt"/>
              </a:rPr>
              <a:t>Anxiety &amp; Activity:</a:t>
            </a:r>
            <a:r>
              <a:rPr lang="en-US" sz="2000" dirty="0">
                <a:latin typeface="+mj-lt"/>
              </a:rPr>
              <a:t> Higher anxiety is associated with lower daily activity .</a:t>
            </a:r>
          </a:p>
          <a:p>
            <a:r>
              <a:rPr lang="en-US" sz="2000" b="1" dirty="0">
                <a:latin typeface="+mj-lt"/>
              </a:rPr>
              <a:t>Self vs. Observer Ratings:</a:t>
            </a:r>
            <a:r>
              <a:rPr lang="en-US" sz="2000" dirty="0">
                <a:latin typeface="+mj-lt"/>
              </a:rPr>
              <a:t> Only moderate agreement, highlighting the need for multiple assessment sources .</a:t>
            </a:r>
          </a:p>
        </p:txBody>
      </p:sp>
    </p:spTree>
    <p:extLst>
      <p:ext uri="{BB962C8B-B14F-4D97-AF65-F5344CB8AC3E}">
        <p14:creationId xmlns:p14="http://schemas.microsoft.com/office/powerpoint/2010/main" val="1226045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4553BF-6FBA-4C7A-2877-0D2ACB7B2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773" y="787859"/>
            <a:ext cx="11018520" cy="731810"/>
          </a:xfrm>
        </p:spPr>
        <p:txBody>
          <a:bodyPr anchor="b">
            <a:normAutofit/>
          </a:bodyPr>
          <a:lstStyle/>
          <a:p>
            <a:pPr algn="ctr"/>
            <a:r>
              <a:rPr lang="en-GB" sz="3200" b="1" dirty="0"/>
              <a:t>What Did You Learn? </a:t>
            </a:r>
            <a:endParaRPr lang="en-US" sz="3200" b="1" dirty="0"/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561841A-7041-68D6-ACD8-DB739B2919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2492" y="2071316"/>
            <a:ext cx="6959017" cy="411917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Each subtype has its own pattern of behaviors and difficulties.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Anxiety strongly affects daily activity levels.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Learning difficulties and task-organization challenges vary significantly across subtypes.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lang="en-US" altLang="en-US" sz="2200" b="1" dirty="0">
              <a:latin typeface="+mj-lt"/>
            </a:endParaRPr>
          </a:p>
        </p:txBody>
      </p:sp>
      <p:pic>
        <p:nvPicPr>
          <p:cNvPr id="7" name="Picture 6" descr="A question mark made out of multicolored words&#10;&#10;AI-generated content may be incorrect.">
            <a:extLst>
              <a:ext uri="{FF2B5EF4-FFF2-40B4-BE49-F238E27FC236}">
                <a16:creationId xmlns:a16="http://schemas.microsoft.com/office/drawing/2014/main" id="{1858C652-82E7-8AF3-5ED6-3E6788141D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09" r="12537"/>
          <a:stretch>
            <a:fillRect/>
          </a:stretch>
        </p:blipFill>
        <p:spPr>
          <a:xfrm>
            <a:off x="9304773" y="3825764"/>
            <a:ext cx="2753550" cy="2862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5887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8CC627-B182-5316-D09D-C30046F39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773" y="603881"/>
            <a:ext cx="11018520" cy="820301"/>
          </a:xfrm>
        </p:spPr>
        <p:txBody>
          <a:bodyPr anchor="b">
            <a:normAutofit/>
          </a:bodyPr>
          <a:lstStyle/>
          <a:p>
            <a:pPr algn="ctr"/>
            <a:r>
              <a:rPr lang="en-US" sz="3200" b="1" dirty="0"/>
              <a:t>What Surprised You?</a:t>
            </a:r>
            <a:endParaRPr lang="en-US" sz="3200" dirty="0"/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E7E7B-CCA8-06DF-7079-6E7AF132A0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773" y="1952117"/>
            <a:ext cx="8345365" cy="3224339"/>
          </a:xfrm>
        </p:spPr>
        <p:txBody>
          <a:bodyPr anchor="t">
            <a:normAutofit/>
          </a:bodyPr>
          <a:lstStyle/>
          <a:p>
            <a:r>
              <a:rPr lang="en-US" sz="2200" b="1" dirty="0">
                <a:latin typeface="+mj-lt"/>
              </a:rPr>
              <a:t>The very strong relationship between anxiety and reduced activity.</a:t>
            </a:r>
          </a:p>
          <a:p>
            <a:pPr lvl="0"/>
            <a:r>
              <a:rPr lang="en-US" sz="2200" b="1" dirty="0">
                <a:latin typeface="+mj-lt"/>
              </a:rPr>
              <a:t>The 100% prevalence of organization difficulties in two ADHD subtypes.</a:t>
            </a:r>
          </a:p>
          <a:p>
            <a:pPr lvl="0"/>
            <a:r>
              <a:rPr lang="en-US" sz="2200" b="1" dirty="0">
                <a:latin typeface="+mj-lt"/>
              </a:rPr>
              <a:t>The inattentive type showing fewer learning difficulties compared to other types.</a:t>
            </a:r>
          </a:p>
          <a:p>
            <a:r>
              <a:rPr lang="en-US" sz="2200" b="1" dirty="0"/>
              <a:t> Presence of unrealistic values (e.g., activity = 0) requiring cleaning.</a:t>
            </a:r>
          </a:p>
          <a:p>
            <a:pPr lvl="0"/>
            <a:endParaRPr lang="en-US" sz="2200" b="1" dirty="0">
              <a:latin typeface="+mj-lt"/>
            </a:endParaRPr>
          </a:p>
          <a:p>
            <a:endParaRPr lang="en-US" sz="2200" b="1" dirty="0">
              <a:latin typeface="+mj-lt"/>
            </a:endParaRPr>
          </a:p>
        </p:txBody>
      </p:sp>
      <p:pic>
        <p:nvPicPr>
          <p:cNvPr id="4" name="Picture 3" descr="A question mark made out of multicolored words&#10;&#10;AI-generated content may be incorrect.">
            <a:extLst>
              <a:ext uri="{FF2B5EF4-FFF2-40B4-BE49-F238E27FC236}">
                <a16:creationId xmlns:a16="http://schemas.microsoft.com/office/drawing/2014/main" id="{CCD6F321-7607-7491-2DB5-4E9D615CA8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09" r="12537"/>
          <a:stretch>
            <a:fillRect/>
          </a:stretch>
        </p:blipFill>
        <p:spPr>
          <a:xfrm>
            <a:off x="9281589" y="3833867"/>
            <a:ext cx="2753550" cy="2862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6959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DCA105-6D99-7CED-3158-44B870552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994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3200" b="1" dirty="0"/>
              <a:t>Did The Data Support Your Hypotheses?</a:t>
            </a:r>
            <a:endParaRPr lang="en-US" sz="32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CF377-4141-745A-8B61-6C378DABB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036" y="1994648"/>
            <a:ext cx="9654835" cy="4251960"/>
          </a:xfrm>
        </p:spPr>
        <p:txBody>
          <a:bodyPr>
            <a:normAutofit/>
          </a:bodyPr>
          <a:lstStyle/>
          <a:p>
            <a:r>
              <a:rPr lang="en-US" sz="2200" b="1" dirty="0">
                <a:latin typeface="+mj-lt"/>
              </a:rPr>
              <a:t>Yes, most of the expectations were correct.</a:t>
            </a:r>
          </a:p>
          <a:p>
            <a:r>
              <a:rPr lang="en-US" sz="2200" b="1" dirty="0">
                <a:latin typeface="+mj-lt"/>
              </a:rPr>
              <a:t>As the severity of ADHD symptoms increased, the difficulty in task organization also increased.</a:t>
            </a:r>
          </a:p>
          <a:p>
            <a:r>
              <a:rPr lang="en-US" sz="2200" b="1" dirty="0">
                <a:latin typeface="+mj-lt"/>
              </a:rPr>
              <a:t>Anxiety was associated with decreased activity levels.</a:t>
            </a:r>
          </a:p>
          <a:p>
            <a:r>
              <a:rPr lang="en-US" sz="2200" b="1" dirty="0">
                <a:latin typeface="+mj-lt"/>
              </a:rPr>
              <a:t>A positive family history increased the likelihood of diagnosis.</a:t>
            </a:r>
          </a:p>
        </p:txBody>
      </p:sp>
      <p:pic>
        <p:nvPicPr>
          <p:cNvPr id="6" name="Picture 5" descr="A question mark made out of multicolored words&#10;&#10;AI-generated content may be incorrect.">
            <a:extLst>
              <a:ext uri="{FF2B5EF4-FFF2-40B4-BE49-F238E27FC236}">
                <a16:creationId xmlns:a16="http://schemas.microsoft.com/office/drawing/2014/main" id="{ADD0A8D3-FF9C-AA3F-82D6-D83DCD1D0A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09" r="12537"/>
          <a:stretch>
            <a:fillRect/>
          </a:stretch>
        </p:blipFill>
        <p:spPr>
          <a:xfrm>
            <a:off x="9287918" y="3867535"/>
            <a:ext cx="2753550" cy="2862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527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AB5871-A658-4214-1B55-E1BE61303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Future Work</a:t>
            </a:r>
            <a:endParaRPr lang="en-US" sz="32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FCEC7-07D9-8005-3CF2-51F244A7C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878" y="1939216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b="1" dirty="0">
                <a:latin typeface="+mj-lt"/>
              </a:rPr>
              <a:t>Investigating why the inattentive type shows lower learning difficulties.</a:t>
            </a:r>
          </a:p>
          <a:p>
            <a:pPr lvl="0"/>
            <a:r>
              <a:rPr lang="en-US" sz="2200" b="1" dirty="0">
                <a:latin typeface="+mj-lt"/>
              </a:rPr>
              <a:t>Analyzing the relationship between anxiety, and ADHD types more deeply.</a:t>
            </a:r>
          </a:p>
          <a:p>
            <a:pPr lvl="0"/>
            <a:r>
              <a:rPr lang="en-US" sz="2200" b="1" dirty="0">
                <a:latin typeface="+mj-lt"/>
              </a:rPr>
              <a:t>Adding performance-based behavioral data.</a:t>
            </a:r>
          </a:p>
          <a:p>
            <a:pPr lvl="0"/>
            <a:r>
              <a:rPr lang="en-US" sz="2200" b="1" dirty="0">
                <a:latin typeface="+mj-lt"/>
              </a:rPr>
              <a:t>Conducting longitudinal analyses to track symptom development.</a:t>
            </a:r>
          </a:p>
        </p:txBody>
      </p:sp>
    </p:spTree>
    <p:extLst>
      <p:ext uri="{BB962C8B-B14F-4D97-AF65-F5344CB8AC3E}">
        <p14:creationId xmlns:p14="http://schemas.microsoft.com/office/powerpoint/2010/main" val="21974951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659AA7-3AE9-DD98-327D-90B273F8F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278" y="1585942"/>
            <a:ext cx="3429000" cy="880232"/>
          </a:xfrm>
        </p:spPr>
        <p:txBody>
          <a:bodyPr anchor="b">
            <a:normAutofit/>
          </a:bodyPr>
          <a:lstStyle/>
          <a:p>
            <a:pPr algn="ctr"/>
            <a:r>
              <a:rPr lang="en-US" sz="3800" b="1" dirty="0"/>
              <a:t>Tools Used</a:t>
            </a:r>
            <a:endParaRPr lang="en-US" sz="3800" dirty="0"/>
          </a:p>
        </p:txBody>
      </p:sp>
      <p:sp>
        <p:nvSpPr>
          <p:cNvPr id="36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9A700-2802-0530-10B6-F5BFCF02FA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endParaRPr lang="en-US" sz="2200" b="1" dirty="0">
              <a:latin typeface="+mj-lt"/>
            </a:endParaRPr>
          </a:p>
          <a:p>
            <a:r>
              <a:rPr lang="en-US" sz="2200" b="1" dirty="0">
                <a:latin typeface="+mj-lt"/>
              </a:rPr>
              <a:t>Excel</a:t>
            </a:r>
          </a:p>
          <a:p>
            <a:r>
              <a:rPr lang="en-US" sz="2200" b="1" dirty="0">
                <a:latin typeface="+mj-lt"/>
              </a:rPr>
              <a:t>Python</a:t>
            </a:r>
          </a:p>
          <a:p>
            <a:r>
              <a:rPr lang="en-US" sz="2200" b="1" dirty="0">
                <a:latin typeface="+mj-lt"/>
              </a:rPr>
              <a:t>Tableau</a:t>
            </a:r>
          </a:p>
          <a:p>
            <a:r>
              <a:rPr lang="en-US" sz="2200" b="1" dirty="0" err="1">
                <a:latin typeface="+mj-lt"/>
              </a:rPr>
              <a:t>Powerpoint</a:t>
            </a:r>
            <a:endParaRPr lang="en-US" sz="2200" b="1" dirty="0">
              <a:latin typeface="+mj-lt"/>
            </a:endParaRPr>
          </a:p>
          <a:p>
            <a:r>
              <a:rPr lang="en-US" sz="2200" b="1" dirty="0"/>
              <a:t>Word</a:t>
            </a:r>
            <a:endParaRPr lang="en-US" sz="2200" b="1" dirty="0">
              <a:latin typeface="+mj-lt"/>
            </a:endParaRPr>
          </a:p>
          <a:p>
            <a:endParaRPr lang="en-US" sz="2200" b="1" dirty="0">
              <a:latin typeface="+mj-lt"/>
            </a:endParaRPr>
          </a:p>
        </p:txBody>
      </p:sp>
      <p:pic>
        <p:nvPicPr>
          <p:cNvPr id="7" name="Picture 6" descr="A cartoon of a child lying on a blanket with a computer and books&#10;&#10;AI-generated content may be incorrect.">
            <a:extLst>
              <a:ext uri="{FF2B5EF4-FFF2-40B4-BE49-F238E27FC236}">
                <a16:creationId xmlns:a16="http://schemas.microsoft.com/office/drawing/2014/main" id="{F656A6AB-0621-4B06-AAA5-AE58F1CA9D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1392403"/>
            <a:ext cx="6903720" cy="4073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646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2279</TotalTime>
  <Words>1316</Words>
  <Application>Microsoft Office PowerPoint</Application>
  <PresentationFormat>Widescreen</PresentationFormat>
  <Paragraphs>155</Paragraphs>
  <Slides>36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Aptos</vt:lpstr>
      <vt:lpstr>Aptos Display</vt:lpstr>
      <vt:lpstr>Arial</vt:lpstr>
      <vt:lpstr>Avenir Next LT Pro</vt:lpstr>
      <vt:lpstr>Calibri</vt:lpstr>
      <vt:lpstr>Office Theme</vt:lpstr>
      <vt:lpstr>PowerPoint Presentation</vt:lpstr>
      <vt:lpstr>Data Selection  &amp;  General Overview</vt:lpstr>
      <vt:lpstr>Excel Table (6500 rows × 32 columns) </vt:lpstr>
      <vt:lpstr>Let’s Define The Features</vt:lpstr>
      <vt:lpstr>Entering Data Into Python</vt:lpstr>
      <vt:lpstr>PowerPoint Presentation</vt:lpstr>
      <vt:lpstr>PowerPoint Presentation</vt:lpstr>
      <vt:lpstr>PowerPoint Presentation</vt:lpstr>
      <vt:lpstr>Define Your Research  Questions </vt:lpstr>
      <vt:lpstr>Data Cleaning &amp; Preprocessing </vt:lpstr>
      <vt:lpstr>Null Values &amp; Duplications </vt:lpstr>
      <vt:lpstr>PowerPoint Presentation</vt:lpstr>
      <vt:lpstr>Descriptive Statistics</vt:lpstr>
      <vt:lpstr>Zero Value !</vt:lpstr>
      <vt:lpstr>Continue</vt:lpstr>
      <vt:lpstr>Descriptive Statistics &amp; Frequency table </vt:lpstr>
      <vt:lpstr>ADHD Correlation Heatmap</vt:lpstr>
      <vt:lpstr>visualizations</vt:lpstr>
      <vt:lpstr>visualizations</vt:lpstr>
      <vt:lpstr>visualization</vt:lpstr>
      <vt:lpstr>visualization</vt:lpstr>
      <vt:lpstr>visualization</vt:lpstr>
      <vt:lpstr>visualizations</vt:lpstr>
      <vt:lpstr>visualizations</vt:lpstr>
      <vt:lpstr>Continue</vt:lpstr>
      <vt:lpstr>Check The Outliers</vt:lpstr>
      <vt:lpstr>visualizations</vt:lpstr>
      <vt:lpstr>visualization</vt:lpstr>
      <vt:lpstr>9- Is there agreement between the self-assessment (Q1) and the observer assessment (Q2), or are there noticeable differences?  </vt:lpstr>
      <vt:lpstr>Dropping</vt:lpstr>
      <vt:lpstr>Main Findings</vt:lpstr>
      <vt:lpstr>What Did You Learn? </vt:lpstr>
      <vt:lpstr>What Surprised You?</vt:lpstr>
      <vt:lpstr>Did The Data Support Your Hypotheses?</vt:lpstr>
      <vt:lpstr>Future Work</vt:lpstr>
      <vt:lpstr>Tools Used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חוסאם עבד אל גני(מתי"א מג'אר)</dc:creator>
  <cp:lastModifiedBy>חוסאם עבד אל גני(מתי"א מג'אר)</cp:lastModifiedBy>
  <cp:revision>11</cp:revision>
  <dcterms:created xsi:type="dcterms:W3CDTF">2025-11-14T17:20:51Z</dcterms:created>
  <dcterms:modified xsi:type="dcterms:W3CDTF">2025-11-18T18:03:04Z</dcterms:modified>
</cp:coreProperties>
</file>